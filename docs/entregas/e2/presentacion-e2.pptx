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9" r:id="rId15"/>
    <p:sldId id="259" r:id="rId5"/>
    <p:sldId id="260" r:id="rId6"/>
    <p:sldId id="273" r:id="rId24"/>
    <p:sldId id="274" r:id="rId25"/>
    <p:sldId id="262" r:id="rId8"/>
    <p:sldId id="261" r:id="rId7"/>
    <p:sldId id="263" r:id="rId9"/>
    <p:sldId id="265" r:id="rId11"/>
    <p:sldId id="275" r:id="rId26"/>
    <p:sldId id="268" r:id="rId14"/>
    <p:sldId id="264" r:id="rId10"/>
    <p:sldId id="266" r:id="rId12"/>
    <p:sldId id="267" r:id="rId13"/>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14.xml"/><Relationship Id="rId10" Type="http://schemas.openxmlformats.org/officeDocument/2006/relationships/slide" Target="slides/slide10.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slide" Target="slides/slide13.xml"/><Relationship Id="rId15" Type="http://schemas.openxmlformats.org/officeDocument/2006/relationships/slide" Target="slides/slide11.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A24"/>
                </a:solidFill>
                <a:latin typeface="Arial"/>
              </a:defRPr>
            </a:pPr>
            <a:r>
              <a:rPr sz="1300" b="0" i="0" u="none" strike="noStrike">
                <a:solidFill>
                  <a:srgbClr val="1F2A24"/>
                </a:solidFill>
                <a:latin typeface="Arial"/>
              </a:rPr>
              <a:t>Horas equipo por semana</a:t>
            </a:r>
          </a:p>
        </c:rich>
      </c:tx>
      <c:layout/>
      <c:overlay val="0"/>
    </c:title>
    <c:autoTitleDeleted val="0"/>
    <c:plotArea>
      <c:layout/>
      <c:barChart>
        <c:barDir val="col"/>
        <c:grouping val="stacked"/>
        <c:varyColors val="0"/>
        <c:ser>
          <c:idx val="0"/>
          <c:order val="0"/>
          <c:tx>
            <c:strRef>
              <c:f>Sheet1!$B$1</c:f>
              <c:strCache>
                <c:ptCount val="1"/>
                <c:pt idx="0">
                  <c:v>Cerradas</c:v>
                </c:pt>
              </c:strCache>
            </c:strRef>
          </c:tx>
          <c:spPr>
            <a:solidFill>
              <a:srgbClr val="2F6B52"/>
            </a:solidFill>
            <a:effectLst/>
          </c:spPr>
          <c:invertIfNegative val="0"/>
          <c:dLbls>
            <c:numFmt formatCode="0.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strRef>
              <c:f>Sheet1!$A$2:$A$4</c:f>
              <c:strCache>
                <c:ptCount val="3"/>
                <c:pt idx="0">
                  <c:v>S01</c:v>
                </c:pt>
                <c:pt idx="1">
                  <c:v>S02</c:v>
                </c:pt>
                <c:pt idx="2">
                  <c:v>S03</c:v>
                </c:pt>
              </c:strCache>
            </c:strRef>
          </c:cat>
          <c:val>
            <c:numRef>
              <c:f>Sheet1!$B$2:$B$4</c:f>
              <c:numCache>
                <c:formatCode>General</c:formatCode>
                <c:ptCount val="3"/>
                <c:pt idx="0">
                  <c:v>23.75</c:v>
                </c:pt>
                <c:pt idx="1">
                  <c:v>19.75</c:v>
                </c:pt>
                <c:pt idx="2">
                  <c:v>14.5</c:v>
                </c:pt>
              </c:numCache>
            </c:numRef>
          </c:val>
        </c:ser>
        <c:ser>
          <c:idx val="1"/>
          <c:order val="1"/>
          <c:tx>
            <c:strRef>
              <c:f>Sheet1!$C$1</c:f>
              <c:strCache>
                <c:ptCount val="1"/>
                <c:pt idx="0">
                  <c:v>Abiertas</c:v>
                </c:pt>
              </c:strCache>
            </c:strRef>
          </c:tx>
          <c:spPr>
            <a:solidFill>
              <a:srgbClr val="D9512C"/>
            </a:solidFill>
            <a:effectLst/>
          </c:spPr>
          <c:invertIfNegative val="0"/>
          <c:dLbls>
            <c:numFmt formatCode="0.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strRef>
              <c:f>Sheet1!$A$2:$A$4</c:f>
              <c:strCache>
                <c:ptCount val="3"/>
                <c:pt idx="0">
                  <c:v>S01</c:v>
                </c:pt>
                <c:pt idx="1">
                  <c:v>S02</c:v>
                </c:pt>
                <c:pt idx="2">
                  <c:v>S03</c:v>
                </c:pt>
              </c:strCache>
            </c:strRef>
          </c:cat>
          <c:val>
            <c:numRef>
              <c:f>Sheet1!$C$2:$C$4</c:f>
              <c:numCache>
                <c:formatCode>General</c:formatCode>
                <c:ptCount val="3"/>
                <c:pt idx="0">
                  <c:v>0.0</c:v>
                </c:pt>
                <c:pt idx="1">
                  <c:v>0.0</c:v>
                </c:pt>
                <c:pt idx="2">
                  <c:v>6.0</c:v>
                </c:pt>
              </c:numCache>
            </c:numRef>
          </c:val>
        </c:ser>
        <c:dLbls>
          <c:numFmt formatCode="0.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4"/>
                </a:solidFill>
                <a:latin typeface="Arial"/>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E3E8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6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Horas responsable</c:v>
                </c:pt>
              </c:strCache>
            </c:strRef>
          </c:tx>
          <c:spPr>
            <a:solidFill>
              <a:srgbClr val="2F6B52"/>
            </a:solidFill>
            <a:effectLst/>
          </c:spPr>
          <c:invertIfNegative val="0"/>
          <c:dLbls>
            <c:numFmt formatCode="#,##0" sourceLinked="0"/>
            <c:txPr>
              <a:bodyPr/>
              <a:lstStyle/>
              <a:p>
                <a:pPr>
                  <a:defRPr b="0" i="0" strike="noStrike" sz="1200" u="none">
                    <a:solidFill>
                      <a:srgbClr val="1F2A24"/>
                    </a:solidFill>
                    <a:latin typeface="Arial"/>
                  </a:defRPr>
                </a:pPr>
              </a:p>
            </c:txPr>
            <c:showLegendKey val="0"/>
            <c:showVal val="1"/>
            <c:showCatName val="0"/>
            <c:showSerName val="0"/>
            <c:showPercent val="0"/>
            <c:showBubbleSize val="0"/>
            <c:showLeaderLines val="0"/>
          </c:dLbls>
          <c:cat>
            <c:multiLvlStrRef>
              <c:f>Sheet1!$A$2:$A$6</c:f>
              <c:multiLvlStrCache>
                <c:ptCount val="5"/>
                <c:lvl>
                  <c:pt idx="0">
                    <c:v>Vicente Reñasco</c:v>
                  </c:pt>
                  <c:pt idx="1">
                    <c:v>Felipe Espinoza</c:v>
                  </c:pt>
                  <c:pt idx="2">
                    <c:v>Jorge Molina</c:v>
                  </c:pt>
                  <c:pt idx="3">
                    <c:v>Felipe Arnolds</c:v>
                  </c:pt>
                  <c:pt idx="4">
                    <c:v>Clemente Acevedo</c:v>
                  </c:pt>
                </c:lvl>
              </c:multiLvlStrCache>
            </c:multiLvlStrRef>
          </c:cat>
          <c:val>
            <c:numRef>
              <c:f>Sheet1!$B$2:$B$6</c:f>
              <c:numCache>
                <c:formatCode>General</c:formatCode>
                <c:ptCount val="5"/>
                <c:pt idx="0">
                  <c:v>10</c:v>
                </c:pt>
                <c:pt idx="1">
                  <c:v>11</c:v>
                </c:pt>
                <c:pt idx="2">
                  <c:v>11</c:v>
                </c:pt>
                <c:pt idx="3">
                  <c:v>11</c:v>
                </c:pt>
                <c:pt idx="4">
                  <c:v>12</c:v>
                </c:pt>
              </c:numCache>
            </c:numRef>
          </c:val>
        </c:ser>
        <c:dLbls>
          <c:numFmt formatCode="#,##0" sourceLinked="0"/>
          <c:txPr>
            <a:bodyPr/>
            <a:lstStyle/>
            <a:p>
              <a:pPr>
                <a:defRPr b="0" i="0" strike="noStrike" sz="1200" u="none">
                  <a:solidFill>
                    <a:srgbClr val="1F2A2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24"/>
                </a:solidFill>
                <a:latin typeface="Arial"/>
              </a:defRPr>
            </a:pPr>
            <a:endParaRPr lang="en-US"/>
          </a:p>
        </c:txPr>
        <c:crossAx val="2094734552"/>
        <c:crosses val="autoZero"/>
        <c:auto val="1"/>
        <c:lblAlgn val="ctr"/>
        <c:noMultiLvlLbl val="1"/>
      </c:catAx>
      <c:valAx>
        <c:axId val="2094734552"/>
        <c:scaling>
          <c:orientation val="minMax"/>
          <c:max val="1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Felipe Arnolds. Rescate conecta establecimientos con excedentes de alimentos y personas que los rescatan. Esta entrega muestra qué cambió desde E1, los modelos y la arquitectura implementada, y el Walking Skeleton desplegado.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Felipe Arnolds no presenta. Sus tarjetas se explican dentro de otros bloques: modelo de datos (K002, K010) con Jorge y fotos (K014) con Felipe Espinoza. Pauta: 10 a 15 minutos más preguntas (confirmar la cifra tachada en la lámina 31); unos 3 minutos por persona. No se repite introducción, motivación, interlocutores ni modelo de proceso (lámina 29). Ajustar en el ensayo D2.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Clemente Acevedo. Cada cambio tiene su ADR o documento en docs/. Render se reemplazó por Railway y Vercel; los ADR 0002 a 0005 registran las decisiones posteriores a E1 sin reescribir los PDF.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Clemente Acevedo. La web llama /api en su mismo dominio; Vercel reenvía a Railway. La API y el worker se despliegan desde la misma imagen. PostGIS no tiene dominio público. B2 solo lo usan API y worker; el navegador nunca recibe credenciales del bucket.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Clemente Acevedo. Las reglas se revisan por imports en cada PR. Application define qué es atómico; Infrastructure ejecuta BEGIN/COMMIT/ROLLBACK. No hay llamadas externas bajo bloqueo.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Jorge Molina. K003 creó cinco tablas; K008 agregó identidad y sesiones; K010 versión e IDs públicos; K015 idempotencia y PostGIS; K014 lot_photos. Ninguna migración compartida se reescribió. El modelo conceptual completo (ofertas, entregas, chat, incidencias) está en docs/modelo-inicial.md.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Jorge Molina. Redocly valida estructura y ejemplos. api:types genera los DTO para API y web; no hay catálogos manuales paralelos. Los comandos exigen sesión, Origin y CSRF.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Vicente Reñasco. Sitio: https://rescate-rescate1.vercel.app (release.json muestra el commit desplegado). Release: github.com/ClemoAcevedo/rescate/releases/tag/deploy-3b51b348ef9ef6dfbc6c8249ee38afb3ba42e8b6, con enlaces al run de CI (36758211882) y de CD (36758557519). La pauta no exige demo en vivo (lámina 32): tener capturas o un GIF del recorrido y el release abiertos como respaldo.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Felipe Espinoza. D-05 (#102): publicar con una foto no lista se rechaza; omitirla cambiaría lo que el operador revisó. La lectura pasa por la API: pública si el lote está publicado, privada si es borrador. La integración en el formulario es K017. Fotos es K014 (Felipe Arnolds); Felipe Espinoza la integra en la web con K017, que se presenta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Vicente Reñasco. Suites PostgreSQL: migraciones, lotes, identidad, descubrimiento y fotos; además, identidad y publicación por HTTPS. E1 proponía Vitest; usamos node:test (ya incluido en Node) y Playwright para navegador.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Felipe Espinoza. Abiertas en S03: K017 fotos en la web, K019 esta presentación y K020 envío. K014 se integró el 01-10 (PR #117). Ni la hoja Registro del plan Kanban ni las tarjetas de GitHub tienen horas reales, así que no podemos contrastar estimación con capacidad. Acción para S04: registrar cada sesión en Registro y completar inicio y cierre real al cerrar la tarjeta.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Felipe Espinoza. Datos de las tarjetas K001 a K020 (campo Horas responsable). Felipe Espinoza suma 11 h en cinco tarjetas; Vicente 10 h en tres.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Vicente Reñasco. Responde a la corrección de E1: «evaluar cada riesgo con su probabilidad e impacto por separado». E1 asumía impacto alto y probabilidad media para todos; aquí se separan con la evidencia de S01–S03. Son evaluaciones del equipo: validarlas antes de presentar.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Clemente Acevedo. Observaciones tomadas de los comentarios de la planilla de notas E1 (KidsNextDoor, nota 6,4375). La métrica de valor ya estaba en el informe E1 (p. 4) pero no se explicó; aquí se dice explícitamente. Restricciones fue el único ítem con 0 puntos. BPMN por rol: decidir responsable en R03 (03-10).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Felipe Espinoza. Responsables según las asignaciones actuales en GitHub. K026 incorpora el feedback de E2.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Tener abierta la demo y el último run de CD por si preguntan.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de respaldo: decisiones de E1 que siguen vigentes sin modificación. Los PDF de E1 se conservan en docs/entregas/e1.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Jorge Molina. Fuente: docs/modelo-inicial.md, sección «Modelo conceptual E2 (K013)», con el diagrama ER completo. Operador no es otra persona: es el usuario actuando con una membresía. Compromiso distingue cantidad solicitada, ofrecida y confirmada; hoy solo se persiste la reserva confirmada (K015).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Jorge Molina. Cada caso de uso tiene flujo, alternativos y postcondiciones en docs/casos-de-uso.md; la trazabilidad RF → caso de uso está en docs/k013-trazabilidad.md. Responde a la pregunta del checklist «¿qué se encuentra completo y qué falta?».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Vicente Reñasco. Responde a la observación de E1 con 0 puntos: «No incluyeron sección de restricciones». Las decisiones de producto (retiro presencial, español, sin pagos) son supuestos, no restricciones, y siguen como en E1. Ley 19.628: protección de la vida privada. Validar la redacción con el equipo antes de presentar.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D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1143000"/>
            <a:ext cx="548640" cy="548640"/>
          </a:xfrm>
          <a:prstGeom prst="rect">
            <a:avLst/>
          </a:prstGeom>
        </p:spPr>
      </p:pic>
      <p:sp>
        <p:nvSpPr>
          <p:cNvPr id="3" name="Text 0"/>
          <p:cNvSpPr txBox="1"/>
          <p:nvPr/>
        </p:nvSpPr>
        <p:spPr>
          <a:xfrm>
            <a:off x="548640" y="1737360"/>
            <a:ext cx="731520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Rescate</a:t>
            </a:r>
            <a:endParaRPr lang="en-US" sz="4800" dirty="0"/>
          </a:p>
        </p:txBody>
      </p:sp>
      <p:sp>
        <p:nvSpPr>
          <p:cNvPr id="4" name="Text 1"/>
          <p:cNvSpPr txBox="1"/>
          <p:nvPr/>
        </p:nvSpPr>
        <p:spPr>
          <a:xfrm>
            <a:off x="548640" y="2560320"/>
            <a:ext cx="7772400" cy="457200"/>
          </a:xfrm>
          <a:prstGeom prst="rect">
            <a:avLst/>
          </a:prstGeom>
          <a:noFill/>
          <a:ln/>
        </p:spPr>
        <p:txBody>
          <a:bodyPr wrap="square" lIns="0" tIns="0" rIns="0" bIns="0" rtlCol="0" anchor="ctr"/>
          <a:lstStyle/>
          <a:p>
            <a:pPr indent="0" marL="0">
              <a:buNone/>
            </a:pPr>
            <a:r>
              <a:rPr lang="en-US" sz="2000" dirty="0">
                <a:solidFill>
                  <a:srgbClr val="CFE3D6"/>
                </a:solidFill>
                <a:latin typeface="Calibri" pitchFamily="34" charset="0"/>
                <a:ea typeface="Calibri" pitchFamily="34" charset="-122"/>
                <a:cs typeface="Calibri" pitchFamily="34" charset="-120"/>
              </a:rPr>
              <a:t>Entrega 2: modelos, arquitectura y Walking Skeleton</a:t>
            </a:r>
            <a:endParaRPr lang="en-US" sz="2000" dirty="0"/>
          </a:p>
        </p:txBody>
      </p:sp>
      <p:sp>
        <p:nvSpPr>
          <p:cNvPr id="5" name="Text 2"/>
          <p:cNvSpPr txBox="1"/>
          <p:nvPr/>
        </p:nvSpPr>
        <p:spPr>
          <a:xfrm>
            <a:off x="548640" y="4206240"/>
            <a:ext cx="7315200" cy="320040"/>
          </a:xfrm>
          <a:prstGeom prst="rect">
            <a:avLst/>
          </a:prstGeom>
          <a:noFill/>
          <a:ln/>
        </p:spPr>
        <p:txBody>
          <a:bodyPr wrap="square" lIns="0" tIns="0" rIns="0" bIns="0" rtlCol="0" anchor="ctr"/>
          <a:lstStyle/>
          <a:p>
            <a:pPr indent="0" marL="0">
              <a:buNone/>
            </a:pPr>
            <a:r>
              <a:rPr lang="en-US" sz="1300" dirty="0">
                <a:solidFill>
                  <a:srgbClr val="CFE3D6"/>
                </a:solidFill>
                <a:latin typeface="Calibri" pitchFamily="34" charset="0"/>
                <a:ea typeface="Calibri" pitchFamily="34" charset="-122"/>
                <a:cs typeface="Calibri" pitchFamily="34" charset="-120"/>
              </a:rPr>
              <a:t>KidsNextDoor · IIC3143 · Segundo semestre 2026</a:t>
            </a:r>
            <a:endParaRPr lang="en-US" sz="1300" dirty="0"/>
          </a:p>
        </p:txBody>
      </p:sp>
      <p:sp>
        <p:nvSpPr>
          <p:cNvPr id="6" name="Text 3"/>
          <p:cNvSpPr txBox="1"/>
          <p:nvPr/>
        </p:nvSpPr>
        <p:spPr>
          <a:xfrm>
            <a:off x="548640" y="4526280"/>
            <a:ext cx="822960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Clemente Acevedo · Felipe Arnolds · Felipe Espinoza · Jorge Molina · Vicente Reñasco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Agenda y quién presenta</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Presentan cuatro integrantes; cada uno explica una parte de S01–S03</a:t>
            </a:r>
            <a:endParaRPr lang="en-US" sz="1300" dirty="0"/>
          </a:p>
        </p:txBody>
      </p:sp>
      <p:sp>
        <p:nvSpPr>
          <p:cNvPr id="4" name="Shape 2"/>
          <p:cNvSpPr/>
          <p:nvPr/>
        </p:nvSpPr>
        <p:spPr>
          <a:xfrm>
            <a:off x="457200" y="1325880"/>
            <a:ext cx="8229600" cy="548640"/>
          </a:xfrm>
          <a:prstGeom prst="roundRect">
            <a:avLst>
              <a:gd name="adj" fmla="val 13333"/>
            </a:avLst>
          </a:prstGeom>
          <a:solidFill>
            <a:srgbClr val="E9F2EC"/>
          </a:solidFill>
          <a:ln w="12700">
            <a:solidFill>
              <a:srgbClr val="E9F2EC"/>
            </a:solidFill>
            <a:prstDash val="solid"/>
          </a:ln>
        </p:spPr>
        <p:txBody>
          <a:bodyPr/>
          <a:p/>
        </p:txBody>
      </p:sp>
      <p:sp>
        <p:nvSpPr>
          <p:cNvPr id="5" name="Text 3"/>
          <p:cNvSpPr txBox="1"/>
          <p:nvPr/>
        </p:nvSpPr>
        <p:spPr>
          <a:xfrm>
            <a:off x="594360" y="1417320"/>
            <a:ext cx="365760" cy="365760"/>
          </a:xfrm>
          <a:prstGeom prst="rect">
            <a:avLst/>
          </a:prstGeom>
          <a:noFill/>
          <a:ln/>
        </p:spPr>
        <p:txBody>
          <a:bodyPr wrap="square" lIns="0" tIns="0" rIns="0" bIns="0" rtlCol="0" anchor="ctr"/>
          <a:lstStyle/>
          <a:p>
            <a:pPr indent="0" marL="0">
              <a:buNone/>
            </a:pPr>
            <a:r>
              <a:rPr lang="en-US" sz="2000" b="1" dirty="0">
                <a:solidFill>
                  <a:srgbClr val="D9512C"/>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051560" y="1399032"/>
            <a:ext cx="3657600" cy="402336"/>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Cambios desde E1, feedback y arquitectura</a:t>
            </a:r>
            <a:endParaRPr lang="en-US" sz="1400" dirty="0"/>
          </a:p>
        </p:txBody>
      </p:sp>
      <p:sp>
        <p:nvSpPr>
          <p:cNvPr id="7" name="Text 5"/>
          <p:cNvSpPr txBox="1"/>
          <p:nvPr/>
        </p:nvSpPr>
        <p:spPr>
          <a:xfrm>
            <a:off x="4846320" y="1399032"/>
            <a:ext cx="1600200" cy="402336"/>
          </a:xfrm>
          <a:prstGeom prst="rect">
            <a:avLst/>
          </a:prstGeom>
          <a:noFill/>
          <a:ln/>
        </p:spPr>
        <p:txBody>
          <a:bodyPr wrap="square" lIns="0" tIns="0" rIns="0" bIns="0" rtlCol="0" anchor="ctr"/>
          <a:lstStyle/>
          <a:p>
            <a:pPr indent="0" marL="0">
              <a:buNone/>
            </a:pPr>
            <a:r>
              <a:rPr lang="en-US" sz="1300" dirty="0">
                <a:solidFill>
                  <a:srgbClr val="1E4D3A"/>
                </a:solidFill>
                <a:latin typeface="Calibri" pitchFamily="34" charset="0"/>
                <a:ea typeface="Calibri" pitchFamily="34" charset="-122"/>
                <a:cs typeface="Calibri" pitchFamily="34" charset="-120"/>
              </a:rPr>
              <a:t>Clemente Acevedo</a:t>
            </a:r>
            <a:endParaRPr lang="en-US" sz="1300" dirty="0"/>
          </a:p>
        </p:txBody>
      </p:sp>
      <p:sp>
        <p:nvSpPr>
          <p:cNvPr id="8" name="Text 6"/>
          <p:cNvSpPr txBox="1"/>
          <p:nvPr/>
        </p:nvSpPr>
        <p:spPr>
          <a:xfrm>
            <a:off x="6492240" y="1399032"/>
            <a:ext cx="2103120" cy="402336"/>
          </a:xfrm>
          <a:prstGeom prst="rect">
            <a:avLst/>
          </a:prstGeom>
          <a:noFill/>
          <a:ln/>
        </p:spPr>
        <p:txBody>
          <a:bodyPr wrap="square" lIns="0" tIns="0" rIns="0" bIns="0" rtlCol="0" anchor="ctr"/>
          <a:lstStyle/>
          <a:p>
            <a:pPr indent="0" marL="0">
              <a:buNone/>
            </a:pPr>
            <a:r>
              <a:rPr lang="en-US" sz="1050" dirty="0">
                <a:solidFill>
                  <a:srgbClr val="5B6B62"/>
                </a:solidFill>
                <a:latin typeface="Calibri" pitchFamily="34" charset="0"/>
                <a:ea typeface="Calibri" pitchFamily="34" charset="-122"/>
                <a:cs typeface="Calibri" pitchFamily="34" charset="-120"/>
              </a:rPr>
              <a:t>K001 · K003 · K008 · K015</a:t>
            </a:r>
            <a:endParaRPr lang="en-US" sz="1050" dirty="0"/>
          </a:p>
        </p:txBody>
      </p:sp>
      <p:sp>
        <p:nvSpPr>
          <p:cNvPr id="9" name="Shape 7"/>
          <p:cNvSpPr/>
          <p:nvPr/>
        </p:nvSpPr>
        <p:spPr>
          <a:xfrm>
            <a:off x="457200" y="1984248"/>
            <a:ext cx="8229600" cy="548640"/>
          </a:xfrm>
          <a:prstGeom prst="roundRect">
            <a:avLst>
              <a:gd name="adj" fmla="val 13333"/>
            </a:avLst>
          </a:prstGeom>
          <a:solidFill>
            <a:srgbClr val="FFFFFF"/>
          </a:solidFill>
          <a:ln w="12700">
            <a:solidFill>
              <a:srgbClr val="FFFFFF"/>
            </a:solidFill>
            <a:prstDash val="solid"/>
          </a:ln>
        </p:spPr>
        <p:txBody>
          <a:bodyPr/>
          <a:p/>
        </p:txBody>
      </p:sp>
      <p:sp>
        <p:nvSpPr>
          <p:cNvPr id="10" name="Text 8"/>
          <p:cNvSpPr txBox="1"/>
          <p:nvPr/>
        </p:nvSpPr>
        <p:spPr>
          <a:xfrm>
            <a:off x="594360" y="2075688"/>
            <a:ext cx="365760" cy="365760"/>
          </a:xfrm>
          <a:prstGeom prst="rect">
            <a:avLst/>
          </a:prstGeom>
          <a:noFill/>
          <a:ln/>
        </p:spPr>
        <p:txBody>
          <a:bodyPr wrap="square" lIns="0" tIns="0" rIns="0" bIns="0" rtlCol="0" anchor="ctr"/>
          <a:lstStyle/>
          <a:p>
            <a:pPr indent="0" marL="0">
              <a:buNone/>
            </a:pPr>
            <a:r>
              <a:rPr lang="en-US" sz="2000" b="1" dirty="0">
                <a:solidFill>
                  <a:srgbClr val="D9512C"/>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051560" y="2057400"/>
            <a:ext cx="3657600" cy="402336"/>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Dominio, casos de uso, contrato y datos</a:t>
            </a:r>
            <a:endParaRPr lang="en-US" sz="1400" dirty="0"/>
          </a:p>
        </p:txBody>
      </p:sp>
      <p:sp>
        <p:nvSpPr>
          <p:cNvPr id="12" name="Text 10"/>
          <p:cNvSpPr txBox="1"/>
          <p:nvPr/>
        </p:nvSpPr>
        <p:spPr>
          <a:xfrm>
            <a:off x="4846320" y="2057400"/>
            <a:ext cx="1600200" cy="402336"/>
          </a:xfrm>
          <a:prstGeom prst="rect">
            <a:avLst/>
          </a:prstGeom>
          <a:noFill/>
          <a:ln/>
        </p:spPr>
        <p:txBody>
          <a:bodyPr wrap="square" lIns="0" tIns="0" rIns="0" bIns="0" rtlCol="0" anchor="ctr"/>
          <a:lstStyle/>
          <a:p>
            <a:pPr indent="0" marL="0">
              <a:buNone/>
            </a:pPr>
            <a:r>
              <a:rPr lang="en-US" sz="1300" dirty="0">
                <a:solidFill>
                  <a:srgbClr val="1E4D3A"/>
                </a:solidFill>
                <a:latin typeface="Calibri" pitchFamily="34" charset="0"/>
                <a:ea typeface="Calibri" pitchFamily="34" charset="-122"/>
                <a:cs typeface="Calibri" pitchFamily="34" charset="-120"/>
              </a:rPr>
              <a:t>Jorge Molina</a:t>
            </a:r>
            <a:endParaRPr lang="en-US" sz="1300" dirty="0"/>
          </a:p>
        </p:txBody>
      </p:sp>
      <p:sp>
        <p:nvSpPr>
          <p:cNvPr id="13" name="Text 11"/>
          <p:cNvSpPr txBox="1"/>
          <p:nvPr/>
        </p:nvSpPr>
        <p:spPr>
          <a:xfrm>
            <a:off x="6492240" y="2057400"/>
            <a:ext cx="2103120" cy="402336"/>
          </a:xfrm>
          <a:prstGeom prst="rect">
            <a:avLst/>
          </a:prstGeom>
          <a:noFill/>
          <a:ln/>
        </p:spPr>
        <p:txBody>
          <a:bodyPr wrap="square" lIns="0" tIns="0" rIns="0" bIns="0" rtlCol="0" anchor="ctr"/>
          <a:lstStyle/>
          <a:p>
            <a:pPr indent="0" marL="0">
              <a:buNone/>
            </a:pPr>
            <a:r>
              <a:rPr lang="en-US" sz="1050" dirty="0">
                <a:solidFill>
                  <a:srgbClr val="5B6B62"/>
                </a:solidFill>
                <a:latin typeface="Calibri" pitchFamily="34" charset="0"/>
                <a:ea typeface="Calibri" pitchFamily="34" charset="-122"/>
                <a:cs typeface="Calibri" pitchFamily="34" charset="-120"/>
              </a:rPr>
              <a:t>K004 · K009 · K013 · K016</a:t>
            </a:r>
            <a:endParaRPr lang="en-US" sz="1050" dirty="0"/>
          </a:p>
        </p:txBody>
      </p:sp>
      <p:sp>
        <p:nvSpPr>
          <p:cNvPr id="14" name="Shape 12"/>
          <p:cNvSpPr/>
          <p:nvPr/>
        </p:nvSpPr>
        <p:spPr>
          <a:xfrm>
            <a:off x="457200" y="2642616"/>
            <a:ext cx="8229600" cy="548640"/>
          </a:xfrm>
          <a:prstGeom prst="roundRect">
            <a:avLst>
              <a:gd name="adj" fmla="val 13333"/>
            </a:avLst>
          </a:prstGeom>
          <a:solidFill>
            <a:srgbClr val="E9F2EC"/>
          </a:solidFill>
          <a:ln w="12700">
            <a:solidFill>
              <a:srgbClr val="E9F2EC"/>
            </a:solidFill>
            <a:prstDash val="solid"/>
          </a:ln>
        </p:spPr>
        <p:txBody>
          <a:bodyPr/>
          <a:p/>
        </p:txBody>
      </p:sp>
      <p:sp>
        <p:nvSpPr>
          <p:cNvPr id="15" name="Text 13"/>
          <p:cNvSpPr txBox="1"/>
          <p:nvPr/>
        </p:nvSpPr>
        <p:spPr>
          <a:xfrm>
            <a:off x="594360" y="2734056"/>
            <a:ext cx="365760" cy="365760"/>
          </a:xfrm>
          <a:prstGeom prst="rect">
            <a:avLst/>
          </a:prstGeom>
          <a:noFill/>
          <a:ln/>
        </p:spPr>
        <p:txBody>
          <a:bodyPr wrap="square" lIns="0" tIns="0" rIns="0" bIns="0" rtlCol="0" anchor="ctr"/>
          <a:lstStyle/>
          <a:p>
            <a:pPr indent="0" marL="0">
              <a:buNone/>
            </a:pPr>
            <a:r>
              <a:rPr lang="en-US" sz="2000" b="1" dirty="0">
                <a:solidFill>
                  <a:srgbClr val="D9512C"/>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1051560" y="2715768"/>
            <a:ext cx="3657600" cy="402336"/>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Walking Skeleton, calidad, restricciones y riesgos</a:t>
            </a:r>
            <a:endParaRPr lang="en-US" sz="1400" dirty="0"/>
          </a:p>
        </p:txBody>
      </p:sp>
      <p:sp>
        <p:nvSpPr>
          <p:cNvPr id="17" name="Text 15"/>
          <p:cNvSpPr txBox="1"/>
          <p:nvPr/>
        </p:nvSpPr>
        <p:spPr>
          <a:xfrm>
            <a:off x="4846320" y="2715768"/>
            <a:ext cx="1600200" cy="402336"/>
          </a:xfrm>
          <a:prstGeom prst="rect">
            <a:avLst/>
          </a:prstGeom>
          <a:noFill/>
          <a:ln/>
        </p:spPr>
        <p:txBody>
          <a:bodyPr wrap="square" lIns="0" tIns="0" rIns="0" bIns="0" rtlCol="0" anchor="ctr"/>
          <a:lstStyle/>
          <a:p>
            <a:pPr indent="0" marL="0">
              <a:buNone/>
            </a:pPr>
            <a:r>
              <a:rPr lang="en-US" sz="1300" dirty="0">
                <a:solidFill>
                  <a:srgbClr val="1E4D3A"/>
                </a:solidFill>
                <a:latin typeface="Calibri" pitchFamily="34" charset="0"/>
                <a:ea typeface="Calibri" pitchFamily="34" charset="-122"/>
                <a:cs typeface="Calibri" pitchFamily="34" charset="-120"/>
              </a:rPr>
              <a:t>Vicente Reñasco</a:t>
            </a:r>
            <a:endParaRPr lang="en-US" sz="1300" dirty="0"/>
          </a:p>
        </p:txBody>
      </p:sp>
      <p:sp>
        <p:nvSpPr>
          <p:cNvPr id="18" name="Text 16"/>
          <p:cNvSpPr txBox="1"/>
          <p:nvPr/>
        </p:nvSpPr>
        <p:spPr>
          <a:xfrm>
            <a:off x="6492240" y="2715768"/>
            <a:ext cx="2103120" cy="402336"/>
          </a:xfrm>
          <a:prstGeom prst="rect">
            <a:avLst/>
          </a:prstGeom>
          <a:noFill/>
          <a:ln/>
        </p:spPr>
        <p:txBody>
          <a:bodyPr wrap="square" lIns="0" tIns="0" rIns="0" bIns="0" rtlCol="0" anchor="ctr"/>
          <a:lstStyle/>
          <a:p>
            <a:pPr indent="0" marL="0">
              <a:buNone/>
            </a:pPr>
            <a:r>
              <a:rPr lang="en-US" sz="1050" dirty="0">
                <a:solidFill>
                  <a:srgbClr val="5B6B62"/>
                </a:solidFill>
                <a:latin typeface="Calibri" pitchFamily="34" charset="0"/>
                <a:ea typeface="Calibri" pitchFamily="34" charset="-122"/>
                <a:cs typeface="Calibri" pitchFamily="34" charset="-120"/>
              </a:rPr>
              <a:t>K006 · K012 · K018</a:t>
            </a:r>
            <a:endParaRPr lang="en-US" sz="1050" dirty="0"/>
          </a:p>
        </p:txBody>
      </p:sp>
      <p:sp>
        <p:nvSpPr>
          <p:cNvPr id="19" name="Shape 17"/>
          <p:cNvSpPr/>
          <p:nvPr/>
        </p:nvSpPr>
        <p:spPr>
          <a:xfrm>
            <a:off x="457200" y="3300984"/>
            <a:ext cx="8229600" cy="548640"/>
          </a:xfrm>
          <a:prstGeom prst="roundRect">
            <a:avLst>
              <a:gd name="adj" fmla="val 13333"/>
            </a:avLst>
          </a:prstGeom>
          <a:solidFill>
            <a:srgbClr val="FFFFFF"/>
          </a:solidFill>
          <a:ln w="12700">
            <a:solidFill>
              <a:srgbClr val="FFFFFF"/>
            </a:solidFill>
            <a:prstDash val="solid"/>
          </a:ln>
        </p:spPr>
        <p:txBody>
          <a:bodyPr/>
          <a:p/>
        </p:txBody>
      </p:sp>
      <p:sp>
        <p:nvSpPr>
          <p:cNvPr id="20" name="Text 18"/>
          <p:cNvSpPr txBox="1"/>
          <p:nvPr/>
        </p:nvSpPr>
        <p:spPr>
          <a:xfrm>
            <a:off x="594360" y="3392424"/>
            <a:ext cx="365760" cy="365760"/>
          </a:xfrm>
          <a:prstGeom prst="rect">
            <a:avLst/>
          </a:prstGeom>
          <a:noFill/>
          <a:ln/>
        </p:spPr>
        <p:txBody>
          <a:bodyPr wrap="square" lIns="0" tIns="0" rIns="0" bIns="0" rtlCol="0" anchor="ctr"/>
          <a:lstStyle/>
          <a:p>
            <a:pPr indent="0" marL="0">
              <a:buNone/>
            </a:pPr>
            <a:r>
              <a:rPr lang="en-US" sz="2000" b="1" dirty="0">
                <a:solidFill>
                  <a:srgbClr val="D9512C"/>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1051560" y="3374136"/>
            <a:ext cx="3657600" cy="402336"/>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Fotos, avance y siguiente iteración</a:t>
            </a:r>
            <a:endParaRPr lang="en-US" sz="1400" dirty="0"/>
          </a:p>
        </p:txBody>
      </p:sp>
      <p:sp>
        <p:nvSpPr>
          <p:cNvPr id="22" name="Text 20"/>
          <p:cNvSpPr txBox="1"/>
          <p:nvPr/>
        </p:nvSpPr>
        <p:spPr>
          <a:xfrm>
            <a:off x="4846320" y="3374136"/>
            <a:ext cx="1600200" cy="402336"/>
          </a:xfrm>
          <a:prstGeom prst="rect">
            <a:avLst/>
          </a:prstGeom>
          <a:noFill/>
          <a:ln/>
        </p:spPr>
        <p:txBody>
          <a:bodyPr wrap="square" lIns="0" tIns="0" rIns="0" bIns="0" rtlCol="0" anchor="ctr"/>
          <a:lstStyle/>
          <a:p>
            <a:pPr indent="0" marL="0">
              <a:buNone/>
            </a:pPr>
            <a:r>
              <a:rPr lang="en-US" sz="1300" dirty="0">
                <a:solidFill>
                  <a:srgbClr val="1E4D3A"/>
                </a:solidFill>
                <a:latin typeface="Calibri" pitchFamily="34" charset="0"/>
                <a:ea typeface="Calibri" pitchFamily="34" charset="-122"/>
                <a:cs typeface="Calibri" pitchFamily="34" charset="-120"/>
              </a:rPr>
              <a:t>Felipe Espinoza</a:t>
            </a:r>
            <a:endParaRPr lang="en-US" sz="1300" dirty="0"/>
          </a:p>
        </p:txBody>
      </p:sp>
      <p:sp>
        <p:nvSpPr>
          <p:cNvPr id="23" name="Text 21"/>
          <p:cNvSpPr txBox="1"/>
          <p:nvPr/>
        </p:nvSpPr>
        <p:spPr>
          <a:xfrm>
            <a:off x="6492240" y="3374136"/>
            <a:ext cx="2103120" cy="402336"/>
          </a:xfrm>
          <a:prstGeom prst="rect">
            <a:avLst/>
          </a:prstGeom>
          <a:noFill/>
          <a:ln/>
        </p:spPr>
        <p:txBody>
          <a:bodyPr wrap="square" lIns="0" tIns="0" rIns="0" bIns="0" rtlCol="0" anchor="ctr"/>
          <a:lstStyle/>
          <a:p>
            <a:pPr indent="0" marL="0">
              <a:buNone/>
            </a:pPr>
            <a:r>
              <a:rPr lang="en-US" sz="1050" dirty="0">
                <a:solidFill>
                  <a:srgbClr val="5B6B62"/>
                </a:solidFill>
                <a:latin typeface="Calibri" pitchFamily="34" charset="0"/>
                <a:ea typeface="Calibri" pitchFamily="34" charset="-122"/>
                <a:cs typeface="Calibri" pitchFamily="34" charset="-120"/>
              </a:rPr>
              <a:t>K005 · K007 · K011 · K017</a:t>
            </a:r>
            <a:endParaRPr lang="en-US" sz="1050" dirty="0"/>
          </a:p>
        </p:txBody>
      </p:sp>
      <p:sp>
        <p:nvSpPr>
          <p:cNvPr id="29" name="Text 27"/>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Qué cambió desde E1</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Decisiones tomadas en S01–S03; lo que no cambió está en el anexo</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371600"/>
                <a:gridCol w="2560320"/>
                <a:gridCol w="42976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Tema</a:t>
                      </a:r>
                      <a:endParaRPr lang="en-US" sz="12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Propuesta E1</a:t>
                      </a:r>
                      <a:endParaRPr lang="en-US" sz="12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Implementado en E2</a:t>
                      </a:r>
                      <a:endParaRPr lang="en-US" sz="12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r>
              <a:tr h="384048">
                <a:tc>
                  <a:txBody>
                    <a:bodyPr/>
                    <a:lstStyle/>
                    <a:p>
                      <a:pPr indent="0" marL="0">
                        <a:buNone/>
                      </a:pPr>
                      <a:r>
                        <a:rPr lang="en-US" sz="1100" b="1" dirty="0">
                          <a:solidFill>
                            <a:srgbClr val="1E4D3A"/>
                          </a:solidFill>
                          <a:latin typeface="Calibri" pitchFamily="34" charset="0"/>
                          <a:ea typeface="Calibri" pitchFamily="34" charset="-122"/>
                          <a:cs typeface="Calibri" pitchFamily="34" charset="-120"/>
                        </a:rPr>
                        <a:t>Alojamiento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dirty="0">
                          <a:solidFill>
                            <a:srgbClr val="5B6B62"/>
                          </a:solidFill>
                          <a:latin typeface="Calibri" pitchFamily="34" charset="0"/>
                          <a:ea typeface="Calibri" pitchFamily="34" charset="-122"/>
                          <a:cs typeface="Calibri" pitchFamily="34" charset="-120"/>
                        </a:rPr>
                        <a:t>Render para API, worker y base</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Vercel (web) y Railway (API, worker, PostGIS), CD tras CI de main</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84048">
                <a:tc>
                  <a:txBody>
                    <a:bodyPr/>
                    <a:lstStyle/>
                    <a:p>
                      <a:pPr indent="0" marL="0">
                        <a:buNone/>
                      </a:pPr>
                      <a:r>
                        <a:rPr lang="en-US" sz="1100" b="1" dirty="0">
                          <a:solidFill>
                            <a:srgbClr val="1E4D3A"/>
                          </a:solidFill>
                          <a:latin typeface="Calibri" pitchFamily="34" charset="0"/>
                          <a:ea typeface="Calibri" pitchFamily="34" charset="-122"/>
                          <a:cs typeface="Calibri" pitchFamily="34" charset="-120"/>
                        </a:rPr>
                        <a:t>Migraciones</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FFFFFF"/>
                    </a:solidFill>
                  </a:tcPr>
                </a:tc>
                <a:tc>
                  <a:txBody>
                    <a:bodyPr/>
                    <a:lstStyle/>
                    <a:p>
                      <a:pPr indent="0" marL="0">
                        <a:buNone/>
                      </a:pPr>
                      <a:r>
                        <a:rPr lang="en-US" sz="1100" dirty="0">
                          <a:solidFill>
                            <a:srgbClr val="5B6B62"/>
                          </a:solidFill>
                          <a:latin typeface="Calibri" pitchFamily="34" charset="0"/>
                          <a:ea typeface="Calibri" pitchFamily="34" charset="-122"/>
                          <a:cs typeface="Calibri" pitchFamily="34" charset="-120"/>
                        </a:rPr>
                        <a:t>node-pg-migrate, dbmate o Flyway</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FFFFFF"/>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node-pg-migrate con SQL y pg (ADR 0001)</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E4D3A"/>
                          </a:solidFill>
                          <a:latin typeface="Calibri" pitchFamily="34" charset="0"/>
                          <a:ea typeface="Calibri" pitchFamily="34" charset="-122"/>
                          <a:cs typeface="Calibri" pitchFamily="34" charset="-120"/>
                        </a:rPr>
                        <a:t>Fotos</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dirty="0">
                          <a:solidFill>
                            <a:srgbClr val="5B6B62"/>
                          </a:solidFill>
                          <a:latin typeface="Calibri" pitchFamily="34" charset="0"/>
                          <a:ea typeface="Calibri" pitchFamily="34" charset="-122"/>
                          <a:cs typeface="Calibri" pitchFamily="34" charset="-120"/>
                        </a:rPr>
                        <a:t>Proveedor por definir</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Backblaze B2 privado; carga y lectura por la API (ADR 0005)</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84048">
                <a:tc>
                  <a:txBody>
                    <a:bodyPr/>
                    <a:lstStyle/>
                    <a:p>
                      <a:pPr indent="0" marL="0">
                        <a:buNone/>
                      </a:pPr>
                      <a:r>
                        <a:rPr lang="en-US" sz="1100" b="1" dirty="0">
                          <a:solidFill>
                            <a:srgbClr val="1E4D3A"/>
                          </a:solidFill>
                          <a:latin typeface="Calibri" pitchFamily="34" charset="0"/>
                          <a:ea typeface="Calibri" pitchFamily="34" charset="-122"/>
                          <a:cs typeface="Calibri" pitchFamily="34" charset="-120"/>
                        </a:rPr>
                        <a:t>Asignación</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FFFFFF"/>
                    </a:solidFill>
                  </a:tcPr>
                </a:tc>
                <a:tc>
                  <a:txBody>
                    <a:bodyPr/>
                    <a:lstStyle/>
                    <a:p>
                      <a:pPr indent="0" marL="0">
                        <a:buNone/>
                      </a:pPr>
                      <a:r>
                        <a:rPr lang="en-US" sz="1100" dirty="0">
                          <a:solidFill>
                            <a:srgbClr val="5B6B62"/>
                          </a:solidFill>
                          <a:latin typeface="Calibri" pitchFamily="34" charset="0"/>
                          <a:ea typeface="Calibri" pitchFamily="34" charset="-122"/>
                          <a:cs typeface="Calibri" pitchFamily="34" charset="-120"/>
                        </a:rPr>
                        <a:t>Espera por la cantidad completa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FFFFFF"/>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Oferta parcial a la cabeza FIFO; la solicitud se cierra (ADR 0002)</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E4D3A"/>
                          </a:solidFill>
                          <a:latin typeface="Calibri" pitchFamily="34" charset="0"/>
                          <a:ea typeface="Calibri" pitchFamily="34" charset="-122"/>
                          <a:cs typeface="Calibri" pitchFamily="34" charset="-120"/>
                        </a:rPr>
                        <a:t>Arquitectura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dirty="0">
                          <a:solidFill>
                            <a:srgbClr val="5B6B62"/>
                          </a:solidFill>
                          <a:latin typeface="Calibri" pitchFamily="34" charset="0"/>
                          <a:ea typeface="Calibri" pitchFamily="34" charset="-122"/>
                          <a:cs typeface="Calibri" pitchFamily="34" charset="-120"/>
                        </a:rPr>
                        <a:t>Monolito modular</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HTTP, Application, Domain e Infrastructure; Composition ensambla (ADR 0003)</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84048">
                <a:tc>
                  <a:txBody>
                    <a:bodyPr/>
                    <a:lstStyle/>
                    <a:p>
                      <a:pPr indent="0" marL="0">
                        <a:buNone/>
                      </a:pPr>
                      <a:r>
                        <a:rPr lang="en-US" sz="1100" b="1" dirty="0">
                          <a:solidFill>
                            <a:srgbClr val="1E4D3A"/>
                          </a:solidFill>
                          <a:latin typeface="Calibri" pitchFamily="34" charset="0"/>
                          <a:ea typeface="Calibri" pitchFamily="34" charset="-122"/>
                          <a:cs typeface="Calibri" pitchFamily="34" charset="-120"/>
                        </a:rPr>
                        <a:t>Contrato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FFFFFF"/>
                    </a:solidFill>
                  </a:tcPr>
                </a:tc>
                <a:tc>
                  <a:txBody>
                    <a:bodyPr/>
                    <a:lstStyle/>
                    <a:p>
                      <a:pPr indent="0" marL="0">
                        <a:buNone/>
                      </a:pPr>
                      <a:r>
                        <a:rPr lang="en-US" sz="1100" dirty="0">
                          <a:solidFill>
                            <a:srgbClr val="5B6B62"/>
                          </a:solidFill>
                          <a:latin typeface="Calibri" pitchFamily="34" charset="0"/>
                          <a:ea typeface="Calibri" pitchFamily="34" charset="-122"/>
                          <a:cs typeface="Calibri" pitchFamily="34" charset="-120"/>
                        </a:rPr>
                        <a:t>Propuesta preliminar (K004)</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FFFFFF"/>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OpenAPI 3.1 con tipos generados y validados en CI</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E4D3A"/>
                          </a:solidFill>
                          <a:latin typeface="Calibri" pitchFamily="34" charset="0"/>
                          <a:ea typeface="Calibri" pitchFamily="34" charset="-122"/>
                          <a:cs typeface="Calibri" pitchFamily="34" charset="-120"/>
                        </a:rPr>
                        <a:t>Reserva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dirty="0">
                          <a:solidFill>
                            <a:srgbClr val="5B6B62"/>
                          </a:solidFill>
                          <a:latin typeface="Calibri" pitchFamily="34" charset="0"/>
                          <a:ea typeface="Calibri" pitchFamily="34" charset="-122"/>
                          <a:cs typeface="Calibri" pitchFamily="34" charset="-120"/>
                        </a:rPr>
                        <a:t>Idempotencia por definir</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Clave UUID por actor, resultado persistido (ADR 0004)</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bl>
          </a:graphicData>
        </a:graphic>
      </p:graphicFrame>
      <p:sp>
        <p:nvSpPr>
          <p:cNvPr id="5" name="Text 2"/>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Arquitectura desplegada</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Un monolito modular: una API y un worker que comparten código e imagen</a:t>
            </a:r>
            <a:endParaRPr lang="en-US" sz="1300" dirty="0"/>
          </a:p>
        </p:txBody>
      </p:sp>
      <p:sp>
        <p:nvSpPr>
          <p:cNvPr id="4" name="Shape 2"/>
          <p:cNvSpPr/>
          <p:nvPr/>
        </p:nvSpPr>
        <p:spPr>
          <a:xfrm>
            <a:off x="457200" y="1371600"/>
            <a:ext cx="1920240" cy="914400"/>
          </a:xfrm>
          <a:prstGeom prst="roundRect">
            <a:avLst>
              <a:gd name="adj" fmla="val 8000"/>
            </a:avLst>
          </a:prstGeom>
          <a:solidFill>
            <a:srgbClr val="E9F2EC"/>
          </a:solidFill>
          <a:ln w="12700">
            <a:solidFill>
              <a:srgbClr val="E9F2EC"/>
            </a:solidFill>
            <a:prstDash val="solid"/>
          </a:ln>
        </p:spPr>
        <p:txBody>
          <a:bodyPr/>
          <a:p/>
        </p:txBody>
      </p:sp>
      <p:sp>
        <p:nvSpPr>
          <p:cNvPr id="5" name="Shape 3"/>
          <p:cNvSpPr/>
          <p:nvPr/>
        </p:nvSpPr>
        <p:spPr>
          <a:xfrm>
            <a:off x="594360" y="1600200"/>
            <a:ext cx="457200" cy="457200"/>
          </a:xfrm>
          <a:prstGeom prst="ellipse">
            <a:avLst/>
          </a:prstGeom>
          <a:solidFill>
            <a:srgbClr val="1E4D3A"/>
          </a:solidFill>
          <a:ln w="12700">
            <a:solidFill>
              <a:srgbClr val="1E4D3A"/>
            </a:solidFill>
            <a:prstDash val="solid"/>
          </a:ln>
        </p:spPr>
        <p:txBody>
          <a:bodyPr/>
          <a:p/>
        </p:txBody>
      </p:sp>
      <p:pic>
        <p:nvPicPr>
          <p:cNvPr id="6" name="Image 0" descr="preencoded.png">    </p:cNvPr>
          <p:cNvPicPr>
            <a:picLocks noChangeAspect="1"/>
          </p:cNvPicPr>
          <p:nvPr/>
        </p:nvPicPr>
        <p:blipFill>
          <a:blip r:embed="rId1"/>
          <a:stretch>
            <a:fillRect/>
          </a:stretch>
        </p:blipFill>
        <p:spPr>
          <a:xfrm>
            <a:off x="704088" y="1709928"/>
            <a:ext cx="237744" cy="237744"/>
          </a:xfrm>
          <a:prstGeom prst="rect">
            <a:avLst/>
          </a:prstGeom>
        </p:spPr>
      </p:pic>
      <p:sp>
        <p:nvSpPr>
          <p:cNvPr id="7" name="Text 4"/>
          <p:cNvSpPr txBox="1"/>
          <p:nvPr/>
        </p:nvSpPr>
        <p:spPr>
          <a:xfrm>
            <a:off x="1143000" y="1463040"/>
            <a:ext cx="1143000" cy="731520"/>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Navegador</a:t>
            </a:r>
            <a:endParaRPr lang="en-US" sz="1400" dirty="0"/>
          </a:p>
          <a:p>
            <a:pPr indent="0" marL="0">
              <a:buNone/>
            </a:pPr>
            <a:r>
              <a:rPr lang="en-US" sz="1050" dirty="0">
                <a:solidFill>
                  <a:srgbClr val="5B6B62"/>
                </a:solidFill>
                <a:latin typeface="Calibri" pitchFamily="34" charset="0"/>
                <a:ea typeface="Calibri" pitchFamily="34" charset="-122"/>
                <a:cs typeface="Calibri" pitchFamily="34" charset="-120"/>
              </a:rPr>
              <a:t>React, TypeScript, Vite</a:t>
            </a:r>
            <a:endParaRPr lang="en-US" sz="1400" dirty="0"/>
          </a:p>
        </p:txBody>
      </p:sp>
      <p:sp>
        <p:nvSpPr>
          <p:cNvPr id="8" name="Shape 5"/>
          <p:cNvSpPr/>
          <p:nvPr/>
        </p:nvSpPr>
        <p:spPr>
          <a:xfrm>
            <a:off x="2743200" y="1371600"/>
            <a:ext cx="2194560" cy="914400"/>
          </a:xfrm>
          <a:prstGeom prst="roundRect">
            <a:avLst>
              <a:gd name="adj" fmla="val 8000"/>
            </a:avLst>
          </a:prstGeom>
          <a:solidFill>
            <a:srgbClr val="E9F2EC"/>
          </a:solidFill>
          <a:ln w="12700">
            <a:solidFill>
              <a:srgbClr val="E9F2EC"/>
            </a:solidFill>
            <a:prstDash val="solid"/>
          </a:ln>
        </p:spPr>
        <p:txBody>
          <a:bodyPr/>
          <a:p/>
        </p:txBody>
      </p:sp>
      <p:sp>
        <p:nvSpPr>
          <p:cNvPr id="9" name="Shape 6"/>
          <p:cNvSpPr/>
          <p:nvPr/>
        </p:nvSpPr>
        <p:spPr>
          <a:xfrm>
            <a:off x="2880360" y="1600200"/>
            <a:ext cx="457200" cy="457200"/>
          </a:xfrm>
          <a:prstGeom prst="ellipse">
            <a:avLst/>
          </a:prstGeom>
          <a:solidFill>
            <a:srgbClr val="1E4D3A"/>
          </a:solidFill>
          <a:ln w="12700">
            <a:solidFill>
              <a:srgbClr val="1E4D3A"/>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2990088" y="1709928"/>
            <a:ext cx="237744" cy="237744"/>
          </a:xfrm>
          <a:prstGeom prst="rect">
            <a:avLst/>
          </a:prstGeom>
        </p:spPr>
      </p:pic>
      <p:sp>
        <p:nvSpPr>
          <p:cNvPr id="11" name="Text 7"/>
          <p:cNvSpPr txBox="1"/>
          <p:nvPr/>
        </p:nvSpPr>
        <p:spPr>
          <a:xfrm>
            <a:off x="3429000" y="1463040"/>
            <a:ext cx="1417320" cy="731520"/>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Vercel</a:t>
            </a:r>
            <a:endParaRPr lang="en-US" sz="1400" dirty="0"/>
          </a:p>
          <a:p>
            <a:pPr indent="0" marL="0">
              <a:buNone/>
            </a:pPr>
            <a:r>
              <a:rPr lang="en-US" sz="1050" dirty="0">
                <a:solidFill>
                  <a:srgbClr val="5B6B62"/>
                </a:solidFill>
                <a:latin typeface="Calibri" pitchFamily="34" charset="0"/>
                <a:ea typeface="Calibri" pitchFamily="34" charset="-122"/>
                <a:cs typeface="Calibri" pitchFamily="34" charset="-120"/>
              </a:rPr>
              <a:t>Web compilada y proxy /api</a:t>
            </a:r>
            <a:endParaRPr lang="en-US" sz="1400" dirty="0"/>
          </a:p>
        </p:txBody>
      </p:sp>
      <p:sp>
        <p:nvSpPr>
          <p:cNvPr id="12" name="Shape 8"/>
          <p:cNvSpPr/>
          <p:nvPr/>
        </p:nvSpPr>
        <p:spPr>
          <a:xfrm>
            <a:off x="5303520" y="1371600"/>
            <a:ext cx="3383280" cy="914400"/>
          </a:xfrm>
          <a:prstGeom prst="roundRect">
            <a:avLst>
              <a:gd name="adj" fmla="val 8000"/>
            </a:avLst>
          </a:prstGeom>
          <a:solidFill>
            <a:srgbClr val="E9F2EC"/>
          </a:solidFill>
          <a:ln w="12700">
            <a:solidFill>
              <a:srgbClr val="E9F2EC"/>
            </a:solidFill>
            <a:prstDash val="solid"/>
          </a:ln>
        </p:spPr>
        <p:txBody>
          <a:bodyPr/>
          <a:p/>
        </p:txBody>
      </p:sp>
      <p:sp>
        <p:nvSpPr>
          <p:cNvPr id="13" name="Shape 9"/>
          <p:cNvSpPr/>
          <p:nvPr/>
        </p:nvSpPr>
        <p:spPr>
          <a:xfrm>
            <a:off x="5440680" y="1600200"/>
            <a:ext cx="457200" cy="457200"/>
          </a:xfrm>
          <a:prstGeom prst="ellipse">
            <a:avLst/>
          </a:prstGeom>
          <a:solidFill>
            <a:srgbClr val="1E4D3A"/>
          </a:solidFill>
          <a:ln w="12700">
            <a:solidFill>
              <a:srgbClr val="1E4D3A"/>
            </a:solidFill>
            <a:prstDash val="solid"/>
          </a:ln>
        </p:spPr>
        <p:txBody>
          <a:bodyPr/>
          <a:p/>
        </p:txBody>
      </p:sp>
      <p:pic>
        <p:nvPicPr>
          <p:cNvPr id="14" name="Image 2" descr="preencoded.png">    </p:cNvPr>
          <p:cNvPicPr>
            <a:picLocks noChangeAspect="1"/>
          </p:cNvPicPr>
          <p:nvPr/>
        </p:nvPicPr>
        <p:blipFill>
          <a:blip r:embed="rId3"/>
          <a:stretch>
            <a:fillRect/>
          </a:stretch>
        </p:blipFill>
        <p:spPr>
          <a:xfrm>
            <a:off x="5550408" y="1709928"/>
            <a:ext cx="237744" cy="237744"/>
          </a:xfrm>
          <a:prstGeom prst="rect">
            <a:avLst/>
          </a:prstGeom>
        </p:spPr>
      </p:pic>
      <p:sp>
        <p:nvSpPr>
          <p:cNvPr id="15" name="Text 10"/>
          <p:cNvSpPr txBox="1"/>
          <p:nvPr/>
        </p:nvSpPr>
        <p:spPr>
          <a:xfrm>
            <a:off x="5989320" y="1463040"/>
            <a:ext cx="2606040" cy="731520"/>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API · Railway</a:t>
            </a:r>
            <a:endParaRPr lang="en-US" sz="1400" dirty="0"/>
          </a:p>
          <a:p>
            <a:pPr indent="0" marL="0">
              <a:buNone/>
            </a:pPr>
            <a:r>
              <a:rPr lang="en-US" sz="1050" dirty="0">
                <a:solidFill>
                  <a:srgbClr val="5B6B62"/>
                </a:solidFill>
                <a:latin typeface="Calibri" pitchFamily="34" charset="0"/>
                <a:ea typeface="Calibri" pitchFamily="34" charset="-122"/>
                <a:cs typeface="Calibri" pitchFamily="34" charset="-120"/>
              </a:rPr>
              <a:t>Express: identidad, lotes, fotos, búsqueda y reserva</a:t>
            </a:r>
            <a:endParaRPr lang="en-US" sz="1400" dirty="0"/>
          </a:p>
        </p:txBody>
      </p:sp>
      <p:sp>
        <p:nvSpPr>
          <p:cNvPr id="16" name="Shape 11"/>
          <p:cNvSpPr/>
          <p:nvPr/>
        </p:nvSpPr>
        <p:spPr>
          <a:xfrm>
            <a:off x="5303520" y="2926080"/>
            <a:ext cx="1600200" cy="914400"/>
          </a:xfrm>
          <a:prstGeom prst="roundRect">
            <a:avLst>
              <a:gd name="adj" fmla="val 8000"/>
            </a:avLst>
          </a:prstGeom>
          <a:solidFill>
            <a:srgbClr val="E9F2EC"/>
          </a:solidFill>
          <a:ln w="12700">
            <a:solidFill>
              <a:srgbClr val="E9F2EC"/>
            </a:solidFill>
            <a:prstDash val="solid"/>
          </a:ln>
        </p:spPr>
        <p:txBody>
          <a:bodyPr/>
          <a:p/>
        </p:txBody>
      </p:sp>
      <p:sp>
        <p:nvSpPr>
          <p:cNvPr id="17" name="Shape 12"/>
          <p:cNvSpPr/>
          <p:nvPr/>
        </p:nvSpPr>
        <p:spPr>
          <a:xfrm>
            <a:off x="5440680" y="3154680"/>
            <a:ext cx="457200" cy="457200"/>
          </a:xfrm>
          <a:prstGeom prst="ellipse">
            <a:avLst/>
          </a:prstGeom>
          <a:solidFill>
            <a:srgbClr val="1E4D3A"/>
          </a:solidFill>
          <a:ln w="12700">
            <a:solidFill>
              <a:srgbClr val="1E4D3A"/>
            </a:solidFill>
            <a:prstDash val="solid"/>
          </a:ln>
        </p:spPr>
        <p:txBody>
          <a:bodyPr/>
          <a:p/>
        </p:txBody>
      </p:sp>
      <p:pic>
        <p:nvPicPr>
          <p:cNvPr id="18" name="Image 3" descr="preencoded.png">    </p:cNvPr>
          <p:cNvPicPr>
            <a:picLocks noChangeAspect="1"/>
          </p:cNvPicPr>
          <p:nvPr/>
        </p:nvPicPr>
        <p:blipFill>
          <a:blip r:embed="rId4"/>
          <a:stretch>
            <a:fillRect/>
          </a:stretch>
        </p:blipFill>
        <p:spPr>
          <a:xfrm>
            <a:off x="5550408" y="3264408"/>
            <a:ext cx="237744" cy="237744"/>
          </a:xfrm>
          <a:prstGeom prst="rect">
            <a:avLst/>
          </a:prstGeom>
        </p:spPr>
      </p:pic>
      <p:sp>
        <p:nvSpPr>
          <p:cNvPr id="19" name="Text 13"/>
          <p:cNvSpPr txBox="1"/>
          <p:nvPr/>
        </p:nvSpPr>
        <p:spPr>
          <a:xfrm>
            <a:off x="5989320" y="3017520"/>
            <a:ext cx="822960" cy="731520"/>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PostGIS</a:t>
            </a:r>
            <a:endParaRPr lang="en-US" sz="1400" dirty="0"/>
          </a:p>
          <a:p>
            <a:pPr indent="0" marL="0">
              <a:buNone/>
            </a:pPr>
            <a:r>
              <a:rPr lang="en-US" sz="1050" dirty="0">
                <a:solidFill>
                  <a:srgbClr val="5B6B62"/>
                </a:solidFill>
                <a:latin typeface="Calibri" pitchFamily="34" charset="0"/>
                <a:ea typeface="Calibri" pitchFamily="34" charset="-122"/>
                <a:cs typeface="Calibri" pitchFamily="34" charset="-120"/>
              </a:rPr>
              <a:t>Red privada</a:t>
            </a:r>
            <a:endParaRPr lang="en-US" sz="1400" dirty="0"/>
          </a:p>
        </p:txBody>
      </p:sp>
      <p:sp>
        <p:nvSpPr>
          <p:cNvPr id="20" name="Shape 14"/>
          <p:cNvSpPr/>
          <p:nvPr/>
        </p:nvSpPr>
        <p:spPr>
          <a:xfrm>
            <a:off x="7086600" y="2926080"/>
            <a:ext cx="1600200" cy="914400"/>
          </a:xfrm>
          <a:prstGeom prst="roundRect">
            <a:avLst>
              <a:gd name="adj" fmla="val 8000"/>
            </a:avLst>
          </a:prstGeom>
          <a:solidFill>
            <a:srgbClr val="E9F2EC"/>
          </a:solidFill>
          <a:ln w="12700">
            <a:solidFill>
              <a:srgbClr val="E9F2EC"/>
            </a:solidFill>
            <a:prstDash val="solid"/>
          </a:ln>
        </p:spPr>
        <p:txBody>
          <a:bodyPr/>
          <a:p/>
        </p:txBody>
      </p:sp>
      <p:sp>
        <p:nvSpPr>
          <p:cNvPr id="21" name="Shape 15"/>
          <p:cNvSpPr/>
          <p:nvPr/>
        </p:nvSpPr>
        <p:spPr>
          <a:xfrm>
            <a:off x="7223760" y="3154680"/>
            <a:ext cx="457200" cy="457200"/>
          </a:xfrm>
          <a:prstGeom prst="ellipse">
            <a:avLst/>
          </a:prstGeom>
          <a:solidFill>
            <a:srgbClr val="1E4D3A"/>
          </a:solidFill>
          <a:ln w="12700">
            <a:solidFill>
              <a:srgbClr val="1E4D3A"/>
            </a:solidFill>
            <a:prstDash val="solid"/>
          </a:ln>
        </p:spPr>
        <p:txBody>
          <a:bodyPr/>
          <a:p/>
        </p:txBody>
      </p:sp>
      <p:pic>
        <p:nvPicPr>
          <p:cNvPr id="22" name="Image 4" descr="preencoded.png">    </p:cNvPr>
          <p:cNvPicPr>
            <a:picLocks noChangeAspect="1"/>
          </p:cNvPicPr>
          <p:nvPr/>
        </p:nvPicPr>
        <p:blipFill>
          <a:blip r:embed="rId5"/>
          <a:stretch>
            <a:fillRect/>
          </a:stretch>
        </p:blipFill>
        <p:spPr>
          <a:xfrm>
            <a:off x="7333488" y="3264408"/>
            <a:ext cx="237744" cy="237744"/>
          </a:xfrm>
          <a:prstGeom prst="rect">
            <a:avLst/>
          </a:prstGeom>
        </p:spPr>
      </p:pic>
      <p:sp>
        <p:nvSpPr>
          <p:cNvPr id="23" name="Text 16"/>
          <p:cNvSpPr txBox="1"/>
          <p:nvPr/>
        </p:nvSpPr>
        <p:spPr>
          <a:xfrm>
            <a:off x="7772400" y="3017520"/>
            <a:ext cx="822960" cy="731520"/>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B2</a:t>
            </a:r>
            <a:endParaRPr lang="en-US" sz="1400" dirty="0"/>
          </a:p>
          <a:p>
            <a:pPr indent="0" marL="0">
              <a:buNone/>
            </a:pPr>
            <a:r>
              <a:rPr lang="en-US" sz="1050" dirty="0">
                <a:solidFill>
                  <a:srgbClr val="5B6B62"/>
                </a:solidFill>
                <a:latin typeface="Calibri" pitchFamily="34" charset="0"/>
                <a:ea typeface="Calibri" pitchFamily="34" charset="-122"/>
                <a:cs typeface="Calibri" pitchFamily="34" charset="-120"/>
              </a:rPr>
              <a:t>Bucket privado de fotos</a:t>
            </a:r>
            <a:endParaRPr lang="en-US" sz="1400" dirty="0"/>
          </a:p>
        </p:txBody>
      </p:sp>
      <p:sp>
        <p:nvSpPr>
          <p:cNvPr id="24" name="Shape 17"/>
          <p:cNvSpPr/>
          <p:nvPr/>
        </p:nvSpPr>
        <p:spPr>
          <a:xfrm>
            <a:off x="2743200" y="2926080"/>
            <a:ext cx="2194560" cy="914400"/>
          </a:xfrm>
          <a:prstGeom prst="roundRect">
            <a:avLst>
              <a:gd name="adj" fmla="val 8000"/>
            </a:avLst>
          </a:prstGeom>
          <a:solidFill>
            <a:srgbClr val="E9F2EC"/>
          </a:solidFill>
          <a:ln w="12700">
            <a:solidFill>
              <a:srgbClr val="E9F2EC"/>
            </a:solidFill>
            <a:prstDash val="solid"/>
          </a:ln>
        </p:spPr>
        <p:txBody>
          <a:bodyPr/>
          <a:p/>
        </p:txBody>
      </p:sp>
      <p:sp>
        <p:nvSpPr>
          <p:cNvPr id="25" name="Shape 18"/>
          <p:cNvSpPr/>
          <p:nvPr/>
        </p:nvSpPr>
        <p:spPr>
          <a:xfrm>
            <a:off x="2880360" y="3154680"/>
            <a:ext cx="457200" cy="457200"/>
          </a:xfrm>
          <a:prstGeom prst="ellipse">
            <a:avLst/>
          </a:prstGeom>
          <a:solidFill>
            <a:srgbClr val="1E4D3A"/>
          </a:solidFill>
          <a:ln w="12700">
            <a:solidFill>
              <a:srgbClr val="1E4D3A"/>
            </a:solidFill>
            <a:prstDash val="solid"/>
          </a:ln>
        </p:spPr>
        <p:txBody>
          <a:bodyPr/>
          <a:p/>
        </p:txBody>
      </p:sp>
      <p:pic>
        <p:nvPicPr>
          <p:cNvPr id="26" name="Image 5" descr="preencoded.png">    </p:cNvPr>
          <p:cNvPicPr>
            <a:picLocks noChangeAspect="1"/>
          </p:cNvPicPr>
          <p:nvPr/>
        </p:nvPicPr>
        <p:blipFill>
          <a:blip r:embed="rId6"/>
          <a:stretch>
            <a:fillRect/>
          </a:stretch>
        </p:blipFill>
        <p:spPr>
          <a:xfrm>
            <a:off x="2990088" y="3264408"/>
            <a:ext cx="237744" cy="237744"/>
          </a:xfrm>
          <a:prstGeom prst="rect">
            <a:avLst/>
          </a:prstGeom>
        </p:spPr>
      </p:pic>
      <p:sp>
        <p:nvSpPr>
          <p:cNvPr id="27" name="Text 19"/>
          <p:cNvSpPr txBox="1"/>
          <p:nvPr/>
        </p:nvSpPr>
        <p:spPr>
          <a:xfrm>
            <a:off x="3429000" y="3017520"/>
            <a:ext cx="1417320" cy="731520"/>
          </a:xfrm>
          <a:prstGeom prst="rect">
            <a:avLst/>
          </a:prstGeom>
          <a:noFill/>
          <a:ln/>
        </p:spPr>
        <p:txBody>
          <a:bodyPr wrap="square" lIns="0" tIns="0" rIns="0" bIns="0" rtlCol="0" anchor="ctr"/>
          <a:lstStyle/>
          <a:p>
            <a:pPr indent="0" marL="0">
              <a:buNone/>
            </a:pPr>
            <a:r>
              <a:rPr lang="en-US" sz="1400" b="1" dirty="0">
                <a:solidFill>
                  <a:srgbClr val="1F2A24"/>
                </a:solidFill>
                <a:latin typeface="Calibri" pitchFamily="34" charset="0"/>
                <a:ea typeface="Calibri" pitchFamily="34" charset="-122"/>
                <a:cs typeface="Calibri" pitchFamily="34" charset="-120"/>
              </a:rPr>
              <a:t>Worker</a:t>
            </a:r>
            <a:endParaRPr lang="en-US" sz="1400" dirty="0"/>
          </a:p>
          <a:p>
            <a:pPr indent="0" marL="0">
              <a:buNone/>
            </a:pPr>
            <a:r>
              <a:rPr lang="en-US" sz="1050" dirty="0">
                <a:solidFill>
                  <a:srgbClr val="5B6B62"/>
                </a:solidFill>
                <a:latin typeface="Calibri" pitchFamily="34" charset="0"/>
                <a:ea typeface="Calibri" pitchFamily="34" charset="-122"/>
                <a:cs typeface="Calibri" pitchFamily="34" charset="-120"/>
              </a:rPr>
              <a:t>Valida fotos en B2 y limpia temporales</a:t>
            </a:r>
            <a:endParaRPr lang="en-US" sz="1400" dirty="0"/>
          </a:p>
        </p:txBody>
      </p:sp>
      <p:sp>
        <p:nvSpPr>
          <p:cNvPr id="28" name="Shape 20"/>
          <p:cNvSpPr/>
          <p:nvPr/>
        </p:nvSpPr>
        <p:spPr>
          <a:xfrm>
            <a:off x="2377440" y="1828800"/>
            <a:ext cx="365760" cy="0"/>
          </a:xfrm>
          <a:prstGeom prst="line">
            <a:avLst/>
          </a:prstGeom>
          <a:noFill/>
          <a:ln w="19050">
            <a:solidFill>
              <a:srgbClr val="2F6B52"/>
            </a:solidFill>
            <a:prstDash val="solid"/>
            <a:tailEnd type="triangle"/>
          </a:ln>
        </p:spPr>
        <p:txBody>
          <a:bodyPr/>
          <a:p/>
        </p:txBody>
      </p:sp>
      <p:sp>
        <p:nvSpPr>
          <p:cNvPr id="29" name="Shape 21"/>
          <p:cNvSpPr/>
          <p:nvPr/>
        </p:nvSpPr>
        <p:spPr>
          <a:xfrm>
            <a:off x="4937760" y="1828800"/>
            <a:ext cx="365760" cy="0"/>
          </a:xfrm>
          <a:prstGeom prst="line">
            <a:avLst/>
          </a:prstGeom>
          <a:noFill/>
          <a:ln w="19050">
            <a:solidFill>
              <a:srgbClr val="2F6B52"/>
            </a:solidFill>
            <a:prstDash val="solid"/>
            <a:tailEnd type="triangle"/>
          </a:ln>
        </p:spPr>
        <p:txBody>
          <a:bodyPr/>
          <a:p/>
        </p:txBody>
      </p:sp>
      <p:sp>
        <p:nvSpPr>
          <p:cNvPr id="30" name="Shape 22"/>
          <p:cNvSpPr/>
          <p:nvPr/>
        </p:nvSpPr>
        <p:spPr>
          <a:xfrm>
            <a:off x="6080760" y="2286000"/>
            <a:ext cx="0" cy="640080"/>
          </a:xfrm>
          <a:prstGeom prst="line">
            <a:avLst/>
          </a:prstGeom>
          <a:noFill/>
          <a:ln w="19050">
            <a:solidFill>
              <a:srgbClr val="2F6B52"/>
            </a:solidFill>
            <a:prstDash val="solid"/>
            <a:tailEnd type="triangle"/>
          </a:ln>
        </p:spPr>
        <p:txBody>
          <a:bodyPr/>
          <a:p/>
        </p:txBody>
      </p:sp>
      <p:sp>
        <p:nvSpPr>
          <p:cNvPr id="31" name="Shape 23"/>
          <p:cNvSpPr/>
          <p:nvPr/>
        </p:nvSpPr>
        <p:spPr>
          <a:xfrm>
            <a:off x="7863840" y="2286000"/>
            <a:ext cx="0" cy="640080"/>
          </a:xfrm>
          <a:prstGeom prst="line">
            <a:avLst/>
          </a:prstGeom>
          <a:noFill/>
          <a:ln w="19050">
            <a:solidFill>
              <a:srgbClr val="2F6B52"/>
            </a:solidFill>
            <a:prstDash val="solid"/>
            <a:tailEnd type="triangle"/>
          </a:ln>
        </p:spPr>
        <p:txBody>
          <a:bodyPr/>
          <a:p/>
        </p:txBody>
      </p:sp>
      <p:sp>
        <p:nvSpPr>
          <p:cNvPr id="32" name="Shape 24"/>
          <p:cNvSpPr/>
          <p:nvPr/>
        </p:nvSpPr>
        <p:spPr>
          <a:xfrm>
            <a:off x="4937760" y="3383280"/>
            <a:ext cx="365760" cy="0"/>
          </a:xfrm>
          <a:prstGeom prst="line">
            <a:avLst/>
          </a:prstGeom>
          <a:noFill/>
          <a:ln w="19050">
            <a:solidFill>
              <a:srgbClr val="2F6B52"/>
            </a:solidFill>
            <a:prstDash val="solid"/>
            <a:tailEnd type="triangle"/>
          </a:ln>
        </p:spPr>
        <p:txBody>
          <a:bodyPr/>
          <a:p/>
        </p:txBody>
      </p:sp>
      <p:sp>
        <p:nvSpPr>
          <p:cNvPr id="33" name="Text 25"/>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200" i="1" dirty="0">
                <a:solidFill>
                  <a:srgbClr val="1E4D3A"/>
                </a:solidFill>
                <a:latin typeface="Calibri" pitchFamily="34" charset="0"/>
                <a:ea typeface="Calibri" pitchFamily="34" charset="-122"/>
                <a:cs typeface="Calibri" pitchFamily="34" charset="-120"/>
              </a:rPr>
              <a:t>HTTPS, cookies __Host- Secure, CSRF firmado y Origin exacto. Sin CORS con credenciales.</a:t>
            </a:r>
            <a:endParaRPr lang="en-US" sz="1200" dirty="0"/>
          </a:p>
        </p:txBody>
      </p:sp>
      <p:sp>
        <p:nvSpPr>
          <p:cNvPr id="34" name="Text 26"/>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Cuatro responsabilidades en el backend</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ADR 0003: límites revisables sin frameworks ni contenedor de DI</a:t>
            </a:r>
            <a:endParaRPr lang="en-US" sz="1300" dirty="0"/>
          </a:p>
        </p:txBody>
      </p:sp>
      <p:sp>
        <p:nvSpPr>
          <p:cNvPr id="4" name="Shape 2"/>
          <p:cNvSpPr/>
          <p:nvPr/>
        </p:nvSpPr>
        <p:spPr>
          <a:xfrm>
            <a:off x="457200" y="1325880"/>
            <a:ext cx="1920240" cy="2148840"/>
          </a:xfrm>
          <a:prstGeom prst="roundRect">
            <a:avLst>
              <a:gd name="adj" fmla="val 3810"/>
            </a:avLst>
          </a:prstGeom>
          <a:solidFill>
            <a:srgbClr val="E9F2EC"/>
          </a:solidFill>
          <a:ln w="12700">
            <a:solidFill>
              <a:srgbClr val="E9F2EC"/>
            </a:solidFill>
            <a:prstDash val="solid"/>
          </a:ln>
        </p:spPr>
        <p:txBody>
          <a:bodyPr/>
          <a:p/>
        </p:txBody>
      </p:sp>
      <p:sp>
        <p:nvSpPr>
          <p:cNvPr id="5" name="Shape 3"/>
          <p:cNvSpPr/>
          <p:nvPr/>
        </p:nvSpPr>
        <p:spPr>
          <a:xfrm>
            <a:off x="1143000" y="1463040"/>
            <a:ext cx="548640" cy="548640"/>
          </a:xfrm>
          <a:prstGeom prst="ellipse">
            <a:avLst/>
          </a:prstGeom>
          <a:solidFill>
            <a:srgbClr val="1E4D3A"/>
          </a:solidFill>
          <a:ln w="12700">
            <a:solidFill>
              <a:srgbClr val="1E4D3A"/>
            </a:solidFill>
            <a:prstDash val="solid"/>
          </a:ln>
        </p:spPr>
        <p:txBody>
          <a:bodyPr/>
          <a:p/>
        </p:txBody>
      </p:sp>
      <p:pic>
        <p:nvPicPr>
          <p:cNvPr id="6" name="Image 0" descr="preencoded.png">    </p:cNvPr>
          <p:cNvPicPr>
            <a:picLocks noChangeAspect="1"/>
          </p:cNvPicPr>
          <p:nvPr/>
        </p:nvPicPr>
        <p:blipFill>
          <a:blip r:embed="rId1"/>
          <a:stretch>
            <a:fillRect/>
          </a:stretch>
        </p:blipFill>
        <p:spPr>
          <a:xfrm>
            <a:off x="1274674" y="1594714"/>
            <a:ext cx="285293" cy="285293"/>
          </a:xfrm>
          <a:prstGeom prst="rect">
            <a:avLst/>
          </a:prstGeom>
        </p:spPr>
      </p:pic>
      <p:sp>
        <p:nvSpPr>
          <p:cNvPr id="7" name="Text 4"/>
          <p:cNvSpPr txBox="1"/>
          <p:nvPr/>
        </p:nvSpPr>
        <p:spPr>
          <a:xfrm>
            <a:off x="548640" y="2103120"/>
            <a:ext cx="1737360" cy="365760"/>
          </a:xfrm>
          <a:prstGeom prst="rect">
            <a:avLst/>
          </a:prstGeom>
          <a:noFill/>
          <a:ln/>
        </p:spPr>
        <p:txBody>
          <a:bodyPr wrap="square" lIns="0" tIns="0" rIns="0" bIns="0" rtlCol="0" anchor="ctr"/>
          <a:lstStyle/>
          <a:p>
            <a:pPr algn="ctr" indent="0" marL="0">
              <a:buNone/>
            </a:pPr>
            <a:r>
              <a:rPr lang="en-US" sz="1600" b="1" dirty="0">
                <a:solidFill>
                  <a:srgbClr val="1E4D3A"/>
                </a:solidFill>
                <a:latin typeface="Cambria" pitchFamily="34" charset="0"/>
                <a:ea typeface="Cambria" pitchFamily="34" charset="-122"/>
                <a:cs typeface="Cambria" pitchFamily="34" charset="-120"/>
              </a:rPr>
              <a:t>HTTP</a:t>
            </a:r>
            <a:endParaRPr lang="en-US" sz="1600" dirty="0"/>
          </a:p>
        </p:txBody>
      </p:sp>
      <p:sp>
        <p:nvSpPr>
          <p:cNvPr id="8" name="Text 5"/>
          <p:cNvSpPr txBox="1"/>
          <p:nvPr/>
        </p:nvSpPr>
        <p:spPr>
          <a:xfrm>
            <a:off x="594360" y="2487168"/>
            <a:ext cx="1645920" cy="914400"/>
          </a:xfrm>
          <a:prstGeom prst="rect">
            <a:avLst/>
          </a:prstGeom>
          <a:noFill/>
          <a:ln/>
        </p:spPr>
        <p:txBody>
          <a:bodyPr wrap="square" lIns="0" tIns="0" rIns="0" bIns="0" rtlCol="0" anchor="ctr"/>
          <a:lstStyle/>
          <a:p>
            <a:pPr algn="ctr" indent="0" marL="0">
              <a:buNone/>
            </a:pPr>
            <a:r>
              <a:rPr lang="en-US" sz="1150" dirty="0">
                <a:solidFill>
                  <a:srgbClr val="1F2A24"/>
                </a:solidFill>
                <a:latin typeface="Calibri" pitchFamily="34" charset="0"/>
                <a:ea typeface="Calibri" pitchFamily="34" charset="-122"/>
                <a:cs typeface="Calibri" pitchFamily="34" charset="-120"/>
              </a:rPr>
              <a:t>Rutas, parsing, cookies, CSRF y traducción de errores. Sin SQL ni SDK.</a:t>
            </a:r>
            <a:endParaRPr lang="en-US" sz="1150" dirty="0"/>
          </a:p>
        </p:txBody>
      </p:sp>
      <p:sp>
        <p:nvSpPr>
          <p:cNvPr id="9" name="Shape 6"/>
          <p:cNvSpPr/>
          <p:nvPr/>
        </p:nvSpPr>
        <p:spPr>
          <a:xfrm>
            <a:off x="2560320" y="1325880"/>
            <a:ext cx="1920240" cy="2148840"/>
          </a:xfrm>
          <a:prstGeom prst="roundRect">
            <a:avLst>
              <a:gd name="adj" fmla="val 3810"/>
            </a:avLst>
          </a:prstGeom>
          <a:solidFill>
            <a:srgbClr val="E9F2EC"/>
          </a:solidFill>
          <a:ln w="12700">
            <a:solidFill>
              <a:srgbClr val="E9F2EC"/>
            </a:solidFill>
            <a:prstDash val="solid"/>
          </a:ln>
        </p:spPr>
        <p:txBody>
          <a:bodyPr/>
          <a:p/>
        </p:txBody>
      </p:sp>
      <p:sp>
        <p:nvSpPr>
          <p:cNvPr id="10" name="Shape 7"/>
          <p:cNvSpPr/>
          <p:nvPr/>
        </p:nvSpPr>
        <p:spPr>
          <a:xfrm>
            <a:off x="3246120" y="1463040"/>
            <a:ext cx="548640" cy="548640"/>
          </a:xfrm>
          <a:prstGeom prst="ellipse">
            <a:avLst/>
          </a:prstGeom>
          <a:solidFill>
            <a:srgbClr val="1E4D3A"/>
          </a:solidFill>
          <a:ln w="12700">
            <a:solidFill>
              <a:srgbClr val="1E4D3A"/>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3377794" y="1594714"/>
            <a:ext cx="285293" cy="285293"/>
          </a:xfrm>
          <a:prstGeom prst="rect">
            <a:avLst/>
          </a:prstGeom>
        </p:spPr>
      </p:pic>
      <p:sp>
        <p:nvSpPr>
          <p:cNvPr id="12" name="Text 8"/>
          <p:cNvSpPr txBox="1"/>
          <p:nvPr/>
        </p:nvSpPr>
        <p:spPr>
          <a:xfrm>
            <a:off x="2651760" y="2103120"/>
            <a:ext cx="1737360" cy="365760"/>
          </a:xfrm>
          <a:prstGeom prst="rect">
            <a:avLst/>
          </a:prstGeom>
          <a:noFill/>
          <a:ln/>
        </p:spPr>
        <p:txBody>
          <a:bodyPr wrap="square" lIns="0" tIns="0" rIns="0" bIns="0" rtlCol="0" anchor="ctr"/>
          <a:lstStyle/>
          <a:p>
            <a:pPr algn="ctr" indent="0" marL="0">
              <a:buNone/>
            </a:pPr>
            <a:r>
              <a:rPr lang="en-US" sz="1600" b="1" dirty="0">
                <a:solidFill>
                  <a:srgbClr val="1E4D3A"/>
                </a:solidFill>
                <a:latin typeface="Cambria" pitchFamily="34" charset="0"/>
                <a:ea typeface="Cambria" pitchFamily="34" charset="-122"/>
                <a:cs typeface="Cambria" pitchFamily="34" charset="-120"/>
              </a:rPr>
              <a:t>Application</a:t>
            </a:r>
            <a:endParaRPr lang="en-US" sz="1600" dirty="0"/>
          </a:p>
        </p:txBody>
      </p:sp>
      <p:sp>
        <p:nvSpPr>
          <p:cNvPr id="13" name="Text 9"/>
          <p:cNvSpPr txBox="1"/>
          <p:nvPr/>
        </p:nvSpPr>
        <p:spPr>
          <a:xfrm>
            <a:off x="2697480" y="2487168"/>
            <a:ext cx="1645920" cy="914400"/>
          </a:xfrm>
          <a:prstGeom prst="rect">
            <a:avLst/>
          </a:prstGeom>
          <a:noFill/>
          <a:ln/>
        </p:spPr>
        <p:txBody>
          <a:bodyPr wrap="square" lIns="0" tIns="0" rIns="0" bIns="0" rtlCol="0" anchor="ctr"/>
          <a:lstStyle/>
          <a:p>
            <a:pPr algn="ctr" indent="0" marL="0">
              <a:buNone/>
            </a:pPr>
            <a:r>
              <a:rPr lang="en-US" sz="1150" dirty="0">
                <a:solidFill>
                  <a:srgbClr val="1F2A24"/>
                </a:solidFill>
                <a:latin typeface="Calibri" pitchFamily="34" charset="0"/>
                <a:ea typeface="Calibri" pitchFamily="34" charset="-122"/>
                <a:cs typeface="Calibri" pitchFamily="34" charset="-120"/>
              </a:rPr>
              <a:t>Casos de uso, autorización y unidad atómica. Sin Express ni pg.</a:t>
            </a:r>
            <a:endParaRPr lang="en-US" sz="1150" dirty="0"/>
          </a:p>
        </p:txBody>
      </p:sp>
      <p:sp>
        <p:nvSpPr>
          <p:cNvPr id="14" name="Shape 10"/>
          <p:cNvSpPr/>
          <p:nvPr/>
        </p:nvSpPr>
        <p:spPr>
          <a:xfrm>
            <a:off x="4663440" y="1325880"/>
            <a:ext cx="1920240" cy="2148840"/>
          </a:xfrm>
          <a:prstGeom prst="roundRect">
            <a:avLst>
              <a:gd name="adj" fmla="val 3810"/>
            </a:avLst>
          </a:prstGeom>
          <a:solidFill>
            <a:srgbClr val="E9F2EC"/>
          </a:solidFill>
          <a:ln w="12700">
            <a:solidFill>
              <a:srgbClr val="E9F2EC"/>
            </a:solidFill>
            <a:prstDash val="solid"/>
          </a:ln>
        </p:spPr>
        <p:txBody>
          <a:bodyPr/>
          <a:p/>
        </p:txBody>
      </p:sp>
      <p:sp>
        <p:nvSpPr>
          <p:cNvPr id="15" name="Shape 11"/>
          <p:cNvSpPr/>
          <p:nvPr/>
        </p:nvSpPr>
        <p:spPr>
          <a:xfrm>
            <a:off x="5349240" y="1463040"/>
            <a:ext cx="548640" cy="548640"/>
          </a:xfrm>
          <a:prstGeom prst="ellipse">
            <a:avLst/>
          </a:prstGeom>
          <a:solidFill>
            <a:srgbClr val="1E4D3A"/>
          </a:solidFill>
          <a:ln w="12700">
            <a:solidFill>
              <a:srgbClr val="1E4D3A"/>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5480914" y="1594714"/>
            <a:ext cx="285293" cy="285293"/>
          </a:xfrm>
          <a:prstGeom prst="rect">
            <a:avLst/>
          </a:prstGeom>
        </p:spPr>
      </p:pic>
      <p:sp>
        <p:nvSpPr>
          <p:cNvPr id="17" name="Text 12"/>
          <p:cNvSpPr txBox="1"/>
          <p:nvPr/>
        </p:nvSpPr>
        <p:spPr>
          <a:xfrm>
            <a:off x="4754880" y="2103120"/>
            <a:ext cx="1737360" cy="365760"/>
          </a:xfrm>
          <a:prstGeom prst="rect">
            <a:avLst/>
          </a:prstGeom>
          <a:noFill/>
          <a:ln/>
        </p:spPr>
        <p:txBody>
          <a:bodyPr wrap="square" lIns="0" tIns="0" rIns="0" bIns="0" rtlCol="0" anchor="ctr"/>
          <a:lstStyle/>
          <a:p>
            <a:pPr algn="ctr" indent="0" marL="0">
              <a:buNone/>
            </a:pPr>
            <a:r>
              <a:rPr lang="en-US" sz="1600" b="1" dirty="0">
                <a:solidFill>
                  <a:srgbClr val="1E4D3A"/>
                </a:solidFill>
                <a:latin typeface="Cambria" pitchFamily="34" charset="0"/>
                <a:ea typeface="Cambria" pitchFamily="34" charset="-122"/>
                <a:cs typeface="Cambria" pitchFamily="34" charset="-120"/>
              </a:rPr>
              <a:t>Domain</a:t>
            </a:r>
            <a:endParaRPr lang="en-US" sz="1600" dirty="0"/>
          </a:p>
        </p:txBody>
      </p:sp>
      <p:sp>
        <p:nvSpPr>
          <p:cNvPr id="18" name="Text 13"/>
          <p:cNvSpPr txBox="1"/>
          <p:nvPr/>
        </p:nvSpPr>
        <p:spPr>
          <a:xfrm>
            <a:off x="4800600" y="2487168"/>
            <a:ext cx="1645920" cy="914400"/>
          </a:xfrm>
          <a:prstGeom prst="rect">
            <a:avLst/>
          </a:prstGeom>
          <a:noFill/>
          <a:ln/>
        </p:spPr>
        <p:txBody>
          <a:bodyPr wrap="square" lIns="0" tIns="0" rIns="0" bIns="0" rtlCol="0" anchor="ctr"/>
          <a:lstStyle/>
          <a:p>
            <a:pPr algn="ctr" indent="0" marL="0">
              <a:buNone/>
            </a:pPr>
            <a:r>
              <a:rPr lang="en-US" sz="1150" dirty="0">
                <a:solidFill>
                  <a:srgbClr val="1F2A24"/>
                </a:solidFill>
                <a:latin typeface="Calibri" pitchFamily="34" charset="0"/>
                <a:ea typeface="Calibri" pitchFamily="34" charset="-122"/>
                <a:cs typeface="Calibri" pitchFamily="34" charset="-120"/>
              </a:rPr>
              <a:t>Reglas puras: publicación, reserva, fotos. Sin dependencias.</a:t>
            </a:r>
            <a:endParaRPr lang="en-US" sz="1150" dirty="0"/>
          </a:p>
        </p:txBody>
      </p:sp>
      <p:sp>
        <p:nvSpPr>
          <p:cNvPr id="19" name="Shape 14"/>
          <p:cNvSpPr/>
          <p:nvPr/>
        </p:nvSpPr>
        <p:spPr>
          <a:xfrm>
            <a:off x="6766560" y="1325880"/>
            <a:ext cx="1920240" cy="2148840"/>
          </a:xfrm>
          <a:prstGeom prst="roundRect">
            <a:avLst>
              <a:gd name="adj" fmla="val 3810"/>
            </a:avLst>
          </a:prstGeom>
          <a:solidFill>
            <a:srgbClr val="E9F2EC"/>
          </a:solidFill>
          <a:ln w="12700">
            <a:solidFill>
              <a:srgbClr val="E9F2EC"/>
            </a:solidFill>
            <a:prstDash val="solid"/>
          </a:ln>
        </p:spPr>
        <p:txBody>
          <a:bodyPr/>
          <a:p/>
        </p:txBody>
      </p:sp>
      <p:sp>
        <p:nvSpPr>
          <p:cNvPr id="20" name="Shape 15"/>
          <p:cNvSpPr/>
          <p:nvPr/>
        </p:nvSpPr>
        <p:spPr>
          <a:xfrm>
            <a:off x="7452360" y="1463040"/>
            <a:ext cx="548640" cy="548640"/>
          </a:xfrm>
          <a:prstGeom prst="ellipse">
            <a:avLst/>
          </a:prstGeom>
          <a:solidFill>
            <a:srgbClr val="1E4D3A"/>
          </a:solidFill>
          <a:ln w="12700">
            <a:solidFill>
              <a:srgbClr val="1E4D3A"/>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7584034" y="1594714"/>
            <a:ext cx="285293" cy="285293"/>
          </a:xfrm>
          <a:prstGeom prst="rect">
            <a:avLst/>
          </a:prstGeom>
        </p:spPr>
      </p:pic>
      <p:sp>
        <p:nvSpPr>
          <p:cNvPr id="22" name="Text 16"/>
          <p:cNvSpPr txBox="1"/>
          <p:nvPr/>
        </p:nvSpPr>
        <p:spPr>
          <a:xfrm>
            <a:off x="6858000" y="2103120"/>
            <a:ext cx="1737360" cy="365760"/>
          </a:xfrm>
          <a:prstGeom prst="rect">
            <a:avLst/>
          </a:prstGeom>
          <a:noFill/>
          <a:ln/>
        </p:spPr>
        <p:txBody>
          <a:bodyPr wrap="square" lIns="0" tIns="0" rIns="0" bIns="0" rtlCol="0" anchor="ctr"/>
          <a:lstStyle/>
          <a:p>
            <a:pPr algn="ctr" indent="0" marL="0">
              <a:buNone/>
            </a:pPr>
            <a:r>
              <a:rPr lang="en-US" sz="1600" b="1" dirty="0">
                <a:solidFill>
                  <a:srgbClr val="1E4D3A"/>
                </a:solidFill>
                <a:latin typeface="Cambria" pitchFamily="34" charset="0"/>
                <a:ea typeface="Cambria" pitchFamily="34" charset="-122"/>
                <a:cs typeface="Cambria" pitchFamily="34" charset="-120"/>
              </a:rPr>
              <a:t>Infrastructure</a:t>
            </a:r>
            <a:endParaRPr lang="en-US" sz="1600" dirty="0"/>
          </a:p>
        </p:txBody>
      </p:sp>
      <p:sp>
        <p:nvSpPr>
          <p:cNvPr id="23" name="Text 17"/>
          <p:cNvSpPr txBox="1"/>
          <p:nvPr/>
        </p:nvSpPr>
        <p:spPr>
          <a:xfrm>
            <a:off x="6903720" y="2487168"/>
            <a:ext cx="1645920" cy="914400"/>
          </a:xfrm>
          <a:prstGeom prst="rect">
            <a:avLst/>
          </a:prstGeom>
          <a:noFill/>
          <a:ln/>
        </p:spPr>
        <p:txBody>
          <a:bodyPr wrap="square" lIns="0" tIns="0" rIns="0" bIns="0" rtlCol="0" anchor="ctr"/>
          <a:lstStyle/>
          <a:p>
            <a:pPr algn="ctr" indent="0" marL="0">
              <a:buNone/>
            </a:pPr>
            <a:r>
              <a:rPr lang="en-US" sz="1150" dirty="0">
                <a:solidFill>
                  <a:srgbClr val="1F2A24"/>
                </a:solidFill>
                <a:latin typeface="Calibri" pitchFamily="34" charset="0"/>
                <a:ea typeface="Calibri" pitchFamily="34" charset="-122"/>
                <a:cs typeface="Calibri" pitchFamily="34" charset="-120"/>
              </a:rPr>
              <a:t>PostgreSQL, scrypt, sesiones, B2 y sharp detrás de ports.</a:t>
            </a:r>
            <a:endParaRPr lang="en-US" sz="1150" dirty="0"/>
          </a:p>
        </p:txBody>
      </p:sp>
      <p:sp>
        <p:nvSpPr>
          <p:cNvPr id="24" name="Shape 18"/>
          <p:cNvSpPr/>
          <p:nvPr/>
        </p:nvSpPr>
        <p:spPr>
          <a:xfrm>
            <a:off x="457200" y="3657600"/>
            <a:ext cx="8229600" cy="868680"/>
          </a:xfrm>
          <a:prstGeom prst="roundRect">
            <a:avLst>
              <a:gd name="adj" fmla="val 8421"/>
            </a:avLst>
          </a:prstGeom>
          <a:solidFill>
            <a:srgbClr val="FFFFFF"/>
          </a:solidFill>
          <a:ln w="12700">
            <a:solidFill>
              <a:srgbClr val="FFFFFF"/>
            </a:solidFill>
            <a:prstDash val="solid"/>
          </a:ln>
        </p:spPr>
        <p:txBody>
          <a:bodyPr/>
          <a:p/>
        </p:txBody>
      </p:sp>
      <p:sp>
        <p:nvSpPr>
          <p:cNvPr id="25" name="Text 19"/>
          <p:cNvSpPr txBox="1"/>
          <p:nvPr/>
        </p:nvSpPr>
        <p:spPr>
          <a:xfrm>
            <a:off x="594360" y="3703320"/>
            <a:ext cx="7955280" cy="777240"/>
          </a:xfrm>
          <a:prstGeom prst="rect">
            <a:avLst/>
          </a:prstGeom>
          <a:noFill/>
          <a:ln/>
        </p:spPr>
        <p:txBody>
          <a:bodyPr wrap="square" lIns="0" tIns="0" rIns="0" bIns="0" rtlCol="0" anchor="ctr"/>
          <a:lstStyle/>
          <a:p>
            <a:pPr indent="0" marL="0">
              <a:buNone/>
            </a:pPr>
            <a:r>
              <a:rPr lang="en-US" sz="1200" b="1" dirty="0">
                <a:solidFill>
                  <a:srgbClr val="D9512C"/>
                </a:solidFill>
                <a:latin typeface="Calibri" pitchFamily="34" charset="0"/>
                <a:ea typeface="Calibri" pitchFamily="34" charset="-122"/>
                <a:cs typeface="Calibri" pitchFamily="34" charset="-120"/>
              </a:rPr>
              <a:t>Ejemplo, publicar un lote: </a:t>
            </a:r>
            <a:pPr indent="0" marL="0">
              <a:buNone/>
            </a:pPr>
            <a:r>
              <a:rPr lang="en-US" sz="1200" dirty="0">
                <a:solidFill>
                  <a:srgbClr val="1F2A24"/>
                </a:solidFill>
                <a:latin typeface="Calibri" pitchFamily="34" charset="0"/>
                <a:ea typeface="Calibri" pitchFamily="34" charset="-122"/>
                <a:cs typeface="Calibri" pitchFamily="34" charset="-120"/>
              </a:rPr>
              <a:t>lots-router → publish() bloquea el lote y relee versión y fotos → Domain decide la transición → el repositorio escribe con el mismo cliente → commit. Composition ensambla Pool, adaptadores y casos de uso; el worker reutiliza los mismos casos de uso.</a:t>
            </a:r>
            <a:endParaRPr lang="en-US" sz="1200" dirty="0"/>
          </a:p>
        </p:txBody>
      </p:sp>
      <p:sp>
        <p:nvSpPr>
          <p:cNvPr id="26" name="Text 20"/>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6</a:t>
            </a:r>
            <a:endParaRPr lang="en-US" sz="9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Modelo de dominio</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Conceptos de K013; en verde lo implementado, en blanco lo que falta (S04–S08)</a:t>
            </a:r>
            <a:endParaRPr lang="en-US" sz="1300" dirty="0"/>
          </a:p>
        </p:txBody>
      </p:sp>
      <p:sp>
        <p:nvSpPr>
          <p:cNvPr id="5" name="Text 2"/>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7</a:t>
            </a:r>
            <a:endParaRPr lang="en-US" sz="900" dirty="0"/>
          </a:p>
        </p:txBody>
      </p:sp>
      <p:sp>
        <p:nvSpPr>
          <p:cNvPr id="4" name="Shape 2"/>
          <p:cNvSpPr/>
          <p:nvPr/>
        </p:nvSpPr>
        <p:spPr>
          <a:xfrm>
            <a:off x="457200" y="1325880"/>
            <a:ext cx="1554480" cy="1005840"/>
          </a:xfrm>
          <a:prstGeom prst="roundRect">
            <a:avLst>
              <a:gd name="adj" fmla="val 8421"/>
            </a:avLst>
          </a:prstGeom>
          <a:solidFill>
            <a:srgbClr val="E9F2EC"/>
          </a:solidFill>
          <a:ln w="12700">
            <a:solidFill>
              <a:srgbClr val="E9F2EC"/>
            </a:solidFill>
            <a:prstDash val="solid"/>
          </a:ln>
        </p:spPr>
        <p:txBody>
          <a:bodyPr/>
          <a:p/>
        </p:txBody>
      </p:sp>
      <p:sp>
        <p:nvSpPr>
          <p:cNvPr id="5" name="Text 3"/>
          <p:cNvSpPr txBox="1"/>
          <p:nvPr/>
        </p:nvSpPr>
        <p:spPr>
          <a:xfrm>
            <a:off x="548640" y="1389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Usuario</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Rescata y, con membresía, opera</a:t>
            </a:r>
            <a:endParaRPr lang="en-US" sz="1300" dirty="0"/>
          </a:p>
        </p:txBody>
      </p:sp>
      <p:sp>
        <p:nvSpPr>
          <p:cNvPr id="4" name="Shape 2"/>
          <p:cNvSpPr/>
          <p:nvPr/>
        </p:nvSpPr>
        <p:spPr>
          <a:xfrm>
            <a:off x="2125980" y="1325880"/>
            <a:ext cx="1554480" cy="1005840"/>
          </a:xfrm>
          <a:prstGeom prst="roundRect">
            <a:avLst>
              <a:gd name="adj" fmla="val 8421"/>
            </a:avLst>
          </a:prstGeom>
          <a:solidFill>
            <a:srgbClr val="E9F2EC"/>
          </a:solidFill>
          <a:ln w="12700">
            <a:solidFill>
              <a:srgbClr val="E9F2EC"/>
            </a:solidFill>
            <a:prstDash val="solid"/>
          </a:ln>
        </p:spPr>
        <p:txBody>
          <a:bodyPr/>
          <a:p/>
        </p:txBody>
      </p:sp>
      <p:sp>
        <p:nvSpPr>
          <p:cNvPr id="5" name="Text 3"/>
          <p:cNvSpPr txBox="1"/>
          <p:nvPr/>
        </p:nvSpPr>
        <p:spPr>
          <a:xfrm>
            <a:off x="2217420" y="1389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Establecimiento</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Publica lotes y acredita retiros</a:t>
            </a:r>
            <a:endParaRPr lang="en-US" sz="1300" dirty="0"/>
          </a:p>
        </p:txBody>
      </p:sp>
      <p:sp>
        <p:nvSpPr>
          <p:cNvPr id="4" name="Shape 2"/>
          <p:cNvSpPr/>
          <p:nvPr/>
        </p:nvSpPr>
        <p:spPr>
          <a:xfrm>
            <a:off x="3794760" y="1325880"/>
            <a:ext cx="1554480" cy="1005840"/>
          </a:xfrm>
          <a:prstGeom prst="roundRect">
            <a:avLst>
              <a:gd name="adj" fmla="val 8421"/>
            </a:avLst>
          </a:prstGeom>
          <a:solidFill>
            <a:srgbClr val="E9F2EC"/>
          </a:solidFill>
          <a:ln w="12700">
            <a:solidFill>
              <a:srgbClr val="E9F2EC"/>
            </a:solidFill>
            <a:prstDash val="solid"/>
          </a:ln>
        </p:spPr>
        <p:txBody>
          <a:bodyPr/>
          <a:p/>
        </p:txBody>
      </p:sp>
      <p:sp>
        <p:nvSpPr>
          <p:cNvPr id="5" name="Text 3"/>
          <p:cNvSpPr txBox="1"/>
          <p:nvPr/>
        </p:nvSpPr>
        <p:spPr>
          <a:xfrm>
            <a:off x="3886200" y="1389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Membresía</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Usuario ↔ establecimiento (N:M); base del permiso</a:t>
            </a:r>
            <a:endParaRPr lang="en-US" sz="1300" dirty="0"/>
          </a:p>
        </p:txBody>
      </p:sp>
      <p:sp>
        <p:nvSpPr>
          <p:cNvPr id="4" name="Shape 2"/>
          <p:cNvSpPr/>
          <p:nvPr/>
        </p:nvSpPr>
        <p:spPr>
          <a:xfrm>
            <a:off x="5463540" y="1325880"/>
            <a:ext cx="1554480" cy="1005840"/>
          </a:xfrm>
          <a:prstGeom prst="roundRect">
            <a:avLst>
              <a:gd name="adj" fmla="val 8421"/>
            </a:avLst>
          </a:prstGeom>
          <a:solidFill>
            <a:srgbClr val="E9F2EC"/>
          </a:solidFill>
          <a:ln w="12700">
            <a:solidFill>
              <a:srgbClr val="E9F2EC"/>
            </a:solidFill>
            <a:prstDash val="solid"/>
          </a:ln>
        </p:spPr>
        <p:txBody>
          <a:bodyPr/>
          <a:p/>
        </p:txBody>
      </p:sp>
      <p:sp>
        <p:nvSpPr>
          <p:cNvPr id="5" name="Text 3"/>
          <p:cNvSpPr txBox="1"/>
          <p:nvPr/>
        </p:nvSpPr>
        <p:spPr>
          <a:xfrm>
            <a:off x="5554980" y="1389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Lote</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Q packs indivisibles, lugar y ventana; inmutable al publicar</a:t>
            </a:r>
            <a:endParaRPr lang="en-US" sz="1300" dirty="0"/>
          </a:p>
        </p:txBody>
      </p:sp>
      <p:sp>
        <p:nvSpPr>
          <p:cNvPr id="4" name="Shape 2"/>
          <p:cNvSpPr/>
          <p:nvPr/>
        </p:nvSpPr>
        <p:spPr>
          <a:xfrm>
            <a:off x="7132320" y="1325880"/>
            <a:ext cx="1554480" cy="1005840"/>
          </a:xfrm>
          <a:prstGeom prst="roundRect">
            <a:avLst>
              <a:gd name="adj" fmla="val 8421"/>
            </a:avLst>
          </a:prstGeom>
          <a:solidFill>
            <a:srgbClr val="E9F2EC"/>
          </a:solidFill>
          <a:ln w="12700">
            <a:solidFill>
              <a:srgbClr val="E9F2EC"/>
            </a:solidFill>
            <a:prstDash val="solid"/>
          </a:ln>
        </p:spPr>
        <p:txBody>
          <a:bodyPr/>
          <a:p/>
        </p:txBody>
      </p:sp>
      <p:sp>
        <p:nvSpPr>
          <p:cNvPr id="5" name="Text 3"/>
          <p:cNvSpPr txBox="1"/>
          <p:nvPr/>
        </p:nvSpPr>
        <p:spPr>
          <a:xfrm>
            <a:off x="7223760" y="1389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Foto de lote</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0 a 3; solo fotos listas son visibles</a:t>
            </a:r>
            <a:endParaRPr lang="en-US" sz="1300" dirty="0"/>
          </a:p>
        </p:txBody>
      </p:sp>
      <p:sp>
        <p:nvSpPr>
          <p:cNvPr id="4" name="Shape 2"/>
          <p:cNvSpPr/>
          <p:nvPr/>
        </p:nvSpPr>
        <p:spPr>
          <a:xfrm>
            <a:off x="457200" y="2468880"/>
            <a:ext cx="1554480" cy="1005840"/>
          </a:xfrm>
          <a:prstGeom prst="roundRect">
            <a:avLst>
              <a:gd name="adj" fmla="val 8421"/>
            </a:avLst>
          </a:prstGeom>
          <a:solidFill>
            <a:srgbClr val="E9F2EC"/>
          </a:solidFill>
          <a:ln w="12700">
            <a:solidFill>
              <a:srgbClr val="E9F2EC"/>
            </a:solidFill>
            <a:prstDash val="solid"/>
          </a:ln>
        </p:spPr>
        <p:txBody>
          <a:bodyPr/>
          <a:p/>
        </p:txBody>
      </p:sp>
      <p:sp>
        <p:nvSpPr>
          <p:cNvPr id="5" name="Text 3"/>
          <p:cNvSpPr txBox="1"/>
          <p:nvPr/>
        </p:nvSpPr>
        <p:spPr>
          <a:xfrm>
            <a:off x="548640" y="2532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Compromiso</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Solicitud → oferta → reserva; hoy solo reserva directa</a:t>
            </a:r>
            <a:endParaRPr lang="en-US" sz="1300" dirty="0"/>
          </a:p>
        </p:txBody>
      </p:sp>
      <p:sp>
        <p:nvSpPr>
          <p:cNvPr id="4" name="Shape 2"/>
          <p:cNvSpPr/>
          <p:nvPr/>
        </p:nvSpPr>
        <p:spPr>
          <a:xfrm>
            <a:off x="2125980" y="2468880"/>
            <a:ext cx="1554480" cy="1005840"/>
          </a:xfrm>
          <a:prstGeom prst="roundRect">
            <a:avLst>
              <a:gd name="adj" fmla="val 8421"/>
            </a:avLst>
          </a:prstGeom>
          <a:solidFill>
            <a:srgbClr val="FFFFFF"/>
          </a:solidFill>
          <a:ln w="12700">
            <a:solidFill>
              <a:srgbClr val="C9D8CE"/>
            </a:solidFill>
            <a:prstDash val="solid"/>
          </a:ln>
        </p:spPr>
        <p:txBody>
          <a:bodyPr/>
          <a:p/>
        </p:txBody>
      </p:sp>
      <p:sp>
        <p:nvSpPr>
          <p:cNvPr id="5" name="Text 3"/>
          <p:cNvSpPr txBox="1"/>
          <p:nvPr/>
        </p:nvSpPr>
        <p:spPr>
          <a:xfrm>
            <a:off x="2217420" y="2532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Código de retiro</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8 caracteres; credencial de la reserva</a:t>
            </a:r>
            <a:endParaRPr lang="en-US" sz="1300" dirty="0"/>
          </a:p>
        </p:txBody>
      </p:sp>
      <p:sp>
        <p:nvSpPr>
          <p:cNvPr id="4" name="Shape 2"/>
          <p:cNvSpPr/>
          <p:nvPr/>
        </p:nvSpPr>
        <p:spPr>
          <a:xfrm>
            <a:off x="3794760" y="2468880"/>
            <a:ext cx="1554480" cy="1005840"/>
          </a:xfrm>
          <a:prstGeom prst="roundRect">
            <a:avLst>
              <a:gd name="adj" fmla="val 8421"/>
            </a:avLst>
          </a:prstGeom>
          <a:solidFill>
            <a:srgbClr val="FFFFFF"/>
          </a:solidFill>
          <a:ln w="12700">
            <a:solidFill>
              <a:srgbClr val="C9D8CE"/>
            </a:solidFill>
            <a:prstDash val="solid"/>
          </a:ln>
        </p:spPr>
        <p:txBody>
          <a:bodyPr/>
          <a:p/>
        </p:txBody>
      </p:sp>
      <p:sp>
        <p:nvSpPr>
          <p:cNvPr id="5" name="Text 3"/>
          <p:cNvSpPr txBox="1"/>
          <p:nvPr/>
        </p:nvSpPr>
        <p:spPr>
          <a:xfrm>
            <a:off x="3886200" y="2532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Entrega</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Hecho inmutable: R → E</a:t>
            </a:r>
            <a:endParaRPr lang="en-US" sz="1300" dirty="0"/>
          </a:p>
        </p:txBody>
      </p:sp>
      <p:sp>
        <p:nvSpPr>
          <p:cNvPr id="4" name="Shape 2"/>
          <p:cNvSpPr/>
          <p:nvPr/>
        </p:nvSpPr>
        <p:spPr>
          <a:xfrm>
            <a:off x="5463540" y="2468880"/>
            <a:ext cx="1554480" cy="1005840"/>
          </a:xfrm>
          <a:prstGeom prst="roundRect">
            <a:avLst>
              <a:gd name="adj" fmla="val 8421"/>
            </a:avLst>
          </a:prstGeom>
          <a:solidFill>
            <a:srgbClr val="FFFFFF"/>
          </a:solidFill>
          <a:ln w="12700">
            <a:solidFill>
              <a:srgbClr val="C9D8CE"/>
            </a:solidFill>
            <a:prstDash val="solid"/>
          </a:ln>
        </p:spPr>
        <p:txBody>
          <a:bodyPr/>
          <a:p/>
        </p:txBody>
      </p:sp>
      <p:sp>
        <p:nvSpPr>
          <p:cNvPr id="5" name="Text 3"/>
          <p:cNvSpPr txBox="1"/>
          <p:nvPr/>
        </p:nvSpPr>
        <p:spPr>
          <a:xfrm>
            <a:off x="5554980" y="2532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Incidencia</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Problema sobre un lote, antes o después de entregar</a:t>
            </a:r>
            <a:endParaRPr lang="en-US" sz="1300" dirty="0"/>
          </a:p>
        </p:txBody>
      </p:sp>
      <p:sp>
        <p:nvSpPr>
          <p:cNvPr id="4" name="Shape 2"/>
          <p:cNvSpPr/>
          <p:nvPr/>
        </p:nvSpPr>
        <p:spPr>
          <a:xfrm>
            <a:off x="7132320" y="2468880"/>
            <a:ext cx="1554480" cy="1005840"/>
          </a:xfrm>
          <a:prstGeom prst="roundRect">
            <a:avLst>
              <a:gd name="adj" fmla="val 8421"/>
            </a:avLst>
          </a:prstGeom>
          <a:solidFill>
            <a:srgbClr val="FFFFFF"/>
          </a:solidFill>
          <a:ln w="12700">
            <a:solidFill>
              <a:srgbClr val="C9D8CE"/>
            </a:solidFill>
            <a:prstDash val="solid"/>
          </a:ln>
        </p:spPr>
        <p:txBody>
          <a:bodyPr/>
          <a:p/>
        </p:txBody>
      </p:sp>
      <p:sp>
        <p:nvSpPr>
          <p:cNvPr id="5" name="Text 3"/>
          <p:cNvSpPr txBox="1"/>
          <p:nvPr/>
        </p:nvSpPr>
        <p:spPr>
          <a:xfrm>
            <a:off x="7223760" y="2532888"/>
            <a:ext cx="1371600" cy="877824"/>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Conversación</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Mensajes asociados al compromiso</a:t>
            </a:r>
            <a:endParaRPr lang="en-US" sz="1300" dirty="0"/>
          </a:p>
        </p:txBody>
      </p:sp>
      <p:sp>
        <p:nvSpPr>
          <p:cNvPr id="4" name="Shape 2"/>
          <p:cNvSpPr/>
          <p:nvPr/>
        </p:nvSpPr>
        <p:spPr>
          <a:xfrm>
            <a:off x="457200" y="3611880"/>
            <a:ext cx="8229600" cy="822960"/>
          </a:xfrm>
          <a:prstGeom prst="roundRect">
            <a:avLst>
              <a:gd name="adj" fmla="val 8421"/>
            </a:avLst>
          </a:prstGeom>
          <a:solidFill>
            <a:srgbClr val="E9F2EC"/>
          </a:solidFill>
          <a:ln w="12700">
            <a:solidFill>
              <a:srgbClr val="E9F2EC"/>
            </a:solidFill>
            <a:prstDash val="solid"/>
          </a:ln>
        </p:spPr>
        <p:txBody>
          <a:bodyPr/>
          <a:p/>
        </p:txBody>
      </p:sp>
      <p:sp>
        <p:nvSpPr>
          <p:cNvPr id="5" name="Text 3"/>
          <p:cNvSpPr txBox="1"/>
          <p:nvPr/>
        </p:nvSpPr>
        <p:spPr>
          <a:xfrm>
            <a:off x="594360" y="3657600"/>
            <a:ext cx="7955280" cy="731520"/>
          </a:xfrm>
          <a:prstGeom prst="rect">
            <a:avLst/>
          </a:prstGeom>
          <a:noFill/>
          <a:ln/>
        </p:spPr>
        <p:txBody>
          <a:bodyPr wrap="square" lIns="0" tIns="0" rIns="0" bIns="0" rtlCol="0" anchor="ctr"/>
          <a:lstStyle/>
          <a:p>
            <a:pPr indent="0" marL="0">
              <a:buNone/>
            </a:pPr>
            <a:r>
              <a:rPr lang="en-US" sz="1250" b="1" dirty="0">
                <a:solidFill>
                  <a:srgbClr val="1E4D3A"/>
                </a:solidFill>
                <a:latin typeface="Calibri" pitchFamily="34" charset="0"/>
                <a:ea typeface="Calibri" pitchFamily="34" charset="-122"/>
                <a:cs typeface="Calibri" pitchFamily="34" charset="-120"/>
              </a:rPr>
              <a:t>Inventario de un lote: Q = F + O + R + E + X</a:t>
            </a:r>
            <a:endParaRPr lang="en-US" sz="1300" dirty="0"/>
          </a:p>
          <a:p>
            <a:pPr indent="0" marL="0">
              <a:buNone/>
            </a:pPr>
            <a:r>
              <a:rPr lang="en-US" sz="1050" dirty="0" b="0">
                <a:solidFill>
                  <a:srgbClr val="1F2A24"/>
                </a:solidFill>
                <a:latin typeface="Calibri" pitchFamily="34" charset="0"/>
                <a:ea typeface="Calibri" pitchFamily="34" charset="-122"/>
                <a:cs typeface="Calibri" pitchFamily="34" charset="-120"/>
              </a:rPr>
              <a:t>Libres, ofertados, reservados, entregados y no entregados. Agotado es una condición (F = 0), no un estado. La oferta parcial solo va a la cabeza FIFO y cierra la solicitud (ADR 0002).</a:t>
            </a:r>
            <a:endParaRPr lang="en-US" sz="13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Casos de uso: qué está completo y qué falta</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Catálogo de K013 (docs/casos-de-uso.md); RF y alcance sin cambios respecto de E1</a:t>
            </a:r>
            <a:endParaRPr lang="en-US" sz="1300" dirty="0"/>
          </a:p>
        </p:txBody>
      </p:sp>
      <p:sp>
        <p:nvSpPr>
          <p:cNvPr id="5" name="Text 2"/>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8</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291840"/>
        </p:xfrm>
        <a:graphic>
          <a:graphicData uri="http://schemas.openxmlformats.org/drawingml/2006/table">
            <a:tbl>
              <a:tblPr/>
              <a:tblGrid>
                <a:gridCol w="2468880"/>
                <a:gridCol w="1097280"/>
                <a:gridCol w="3108960"/>
                <a:gridCol w="155448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Caso de uso</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RF</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Estado</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Tarjetas</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r>
              <a:tr h="36576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Registro y sesión</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RF01</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Completo</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K008 · K009</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6576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Publicar lote con fotos</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RF02</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API completa; fotos en la web en K017</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K010 · K014 · K011</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6576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Buscar y consultar lote</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RF03</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Completo: cercanía PostGIS y detalle</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K015 · K016</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6576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Crear compromiso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RF04</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Reserva directa idempotente; falta la espera</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K015 → K021</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6576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Cancelar reserva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RF05</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Pendiente S04</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K022 · K023</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6576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Código y acreditación de entrega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RF06 · RF10</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Pendiente S04</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K022 · K024</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6576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Ofertar FIFO y vencer</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RF07 · RF08</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Pendiente S05</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K027 · K028 · K029</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36576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Reportar y publicar incidencias</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RF11</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Pendiente S08</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K043 – K046</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Contrato HTTP: OpenAPI 3.1</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Fuente de verdad entre web y API; los tipos se generan y CI detecta desincronización</a:t>
            </a:r>
            <a:endParaRPr lang="en-US" sz="1300" dirty="0"/>
          </a:p>
        </p:txBody>
      </p:sp>
      <p:sp>
        <p:nvSpPr>
          <p:cNvPr id="4" name="Text 2"/>
          <p:cNvSpPr txBox="1"/>
          <p:nvPr/>
        </p:nvSpPr>
        <p:spPr>
          <a:xfrm>
            <a:off x="457200" y="1371600"/>
            <a:ext cx="2377440" cy="1188720"/>
          </a:xfrm>
          <a:prstGeom prst="rect">
            <a:avLst/>
          </a:prstGeom>
          <a:noFill/>
          <a:ln/>
        </p:spPr>
        <p:txBody>
          <a:bodyPr wrap="square" lIns="0" tIns="0" rIns="0" bIns="0" rtlCol="0" anchor="ctr"/>
          <a:lstStyle/>
          <a:p>
            <a:pPr indent="0" marL="0">
              <a:buNone/>
            </a:pPr>
            <a:r>
              <a:rPr lang="en-US" sz="7200" b="1" dirty="0">
                <a:solidFill>
                  <a:srgbClr val="D9512C"/>
                </a:solidFill>
                <a:latin typeface="Cambria" pitchFamily="34" charset="0"/>
                <a:ea typeface="Cambria" pitchFamily="34" charset="-122"/>
                <a:cs typeface="Cambria" pitchFamily="34" charset="-120"/>
              </a:rPr>
              <a:t>15</a:t>
            </a:r>
            <a:endParaRPr lang="en-US" sz="7200" dirty="0"/>
          </a:p>
        </p:txBody>
      </p:sp>
      <p:sp>
        <p:nvSpPr>
          <p:cNvPr id="5" name="Text 3"/>
          <p:cNvSpPr txBox="1"/>
          <p:nvPr/>
        </p:nvSpPr>
        <p:spPr>
          <a:xfrm>
            <a:off x="457200" y="2560320"/>
            <a:ext cx="2377440" cy="365760"/>
          </a:xfrm>
          <a:prstGeom prst="rect">
            <a:avLst/>
          </a:prstGeom>
          <a:noFill/>
          <a:ln/>
        </p:spPr>
        <p:txBody>
          <a:bodyPr wrap="square" lIns="0" tIns="0" rIns="0" bIns="0" rtlCol="0" anchor="ctr"/>
          <a:lstStyle/>
          <a:p>
            <a:pPr indent="0" marL="0">
              <a:buNone/>
            </a:pPr>
            <a:r>
              <a:rPr lang="en-US" sz="1400" dirty="0">
                <a:solidFill>
                  <a:srgbClr val="5B6B62"/>
                </a:solidFill>
                <a:latin typeface="Calibri" pitchFamily="34" charset="0"/>
                <a:ea typeface="Calibri" pitchFamily="34" charset="-122"/>
                <a:cs typeface="Calibri" pitchFamily="34" charset="-120"/>
              </a:rPr>
              <a:t>operaciones más /health</a:t>
            </a:r>
            <a:endParaRPr lang="en-US" sz="1400" dirty="0"/>
          </a:p>
        </p:txBody>
      </p:sp>
      <p:sp>
        <p:nvSpPr>
          <p:cNvPr id="6" name="Shape 4"/>
          <p:cNvSpPr/>
          <p:nvPr/>
        </p:nvSpPr>
        <p:spPr>
          <a:xfrm>
            <a:off x="3108960" y="1325880"/>
            <a:ext cx="5577840" cy="603504"/>
          </a:xfrm>
          <a:prstGeom prst="roundRect">
            <a:avLst>
              <a:gd name="adj" fmla="val 12121"/>
            </a:avLst>
          </a:prstGeom>
          <a:solidFill>
            <a:srgbClr val="E9F2EC"/>
          </a:solidFill>
          <a:ln w="12700">
            <a:solidFill>
              <a:srgbClr val="E9F2EC"/>
            </a:solidFill>
            <a:prstDash val="solid"/>
          </a:ln>
        </p:spPr>
        <p:txBody>
          <a:bodyPr/>
          <a:p/>
        </p:txBody>
      </p:sp>
      <p:sp>
        <p:nvSpPr>
          <p:cNvPr id="7" name="Text 5"/>
          <p:cNvSpPr txBox="1"/>
          <p:nvPr/>
        </p:nvSpPr>
        <p:spPr>
          <a:xfrm>
            <a:off x="3246120" y="1362456"/>
            <a:ext cx="5349240" cy="530352"/>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Identidad (4)</a:t>
            </a:r>
            <a:endParaRPr lang="en-US" sz="1300" dirty="0"/>
          </a:p>
          <a:p>
            <a:pPr indent="0" marL="0">
              <a:buNone/>
            </a:pPr>
            <a:r>
              <a:rPr lang="en-US" sz="1100" dirty="0">
                <a:solidFill>
                  <a:srgbClr val="1F2A24"/>
                </a:solidFill>
                <a:latin typeface="Calibri" pitchFamily="34" charset="0"/>
                <a:ea typeface="Calibri" pitchFamily="34" charset="-122"/>
                <a:cs typeface="Calibri" pitchFamily="34" charset="-120"/>
              </a:rPr>
              <a:t>register · login · logout · getSession</a:t>
            </a:r>
            <a:endParaRPr lang="en-US" sz="1300" dirty="0"/>
          </a:p>
        </p:txBody>
      </p:sp>
      <p:sp>
        <p:nvSpPr>
          <p:cNvPr id="8" name="Shape 6"/>
          <p:cNvSpPr/>
          <p:nvPr/>
        </p:nvSpPr>
        <p:spPr>
          <a:xfrm>
            <a:off x="3108960" y="2039112"/>
            <a:ext cx="5577840" cy="603504"/>
          </a:xfrm>
          <a:prstGeom prst="roundRect">
            <a:avLst>
              <a:gd name="adj" fmla="val 12121"/>
            </a:avLst>
          </a:prstGeom>
          <a:solidFill>
            <a:srgbClr val="E9F2EC"/>
          </a:solidFill>
          <a:ln w="12700">
            <a:solidFill>
              <a:srgbClr val="E9F2EC"/>
            </a:solidFill>
            <a:prstDash val="solid"/>
          </a:ln>
        </p:spPr>
        <p:txBody>
          <a:bodyPr/>
          <a:p/>
        </p:txBody>
      </p:sp>
      <p:sp>
        <p:nvSpPr>
          <p:cNvPr id="9" name="Text 7"/>
          <p:cNvSpPr txBox="1"/>
          <p:nvPr/>
        </p:nvSpPr>
        <p:spPr>
          <a:xfrm>
            <a:off x="3246120" y="2075688"/>
            <a:ext cx="5349240" cy="530352"/>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Lotes del operador (4)</a:t>
            </a:r>
            <a:endParaRPr lang="en-US" sz="1300" dirty="0"/>
          </a:p>
          <a:p>
            <a:pPr indent="0" marL="0">
              <a:buNone/>
            </a:pPr>
            <a:r>
              <a:rPr lang="en-US" sz="1100" dirty="0">
                <a:solidFill>
                  <a:srgbClr val="1F2A24"/>
                </a:solidFill>
                <a:latin typeface="Calibri" pitchFamily="34" charset="0"/>
                <a:ea typeface="Calibri" pitchFamily="34" charset="-122"/>
                <a:cs typeface="Calibri" pitchFamily="34" charset="-120"/>
              </a:rPr>
              <a:t>createLotDraft · getLot · updateLotDraft · publishLotDraft</a:t>
            </a:r>
            <a:endParaRPr lang="en-US" sz="1300" dirty="0"/>
          </a:p>
        </p:txBody>
      </p:sp>
      <p:sp>
        <p:nvSpPr>
          <p:cNvPr id="10" name="Shape 8"/>
          <p:cNvSpPr/>
          <p:nvPr/>
        </p:nvSpPr>
        <p:spPr>
          <a:xfrm>
            <a:off x="3108960" y="2752344"/>
            <a:ext cx="5577840" cy="603504"/>
          </a:xfrm>
          <a:prstGeom prst="roundRect">
            <a:avLst>
              <a:gd name="adj" fmla="val 12121"/>
            </a:avLst>
          </a:prstGeom>
          <a:solidFill>
            <a:srgbClr val="E9F2EC"/>
          </a:solidFill>
          <a:ln w="12700">
            <a:solidFill>
              <a:srgbClr val="E9F2EC"/>
            </a:solidFill>
            <a:prstDash val="solid"/>
          </a:ln>
        </p:spPr>
        <p:txBody>
          <a:bodyPr/>
          <a:p/>
        </p:txBody>
      </p:sp>
      <p:sp>
        <p:nvSpPr>
          <p:cNvPr id="11" name="Text 9"/>
          <p:cNvSpPr txBox="1"/>
          <p:nvPr/>
        </p:nvSpPr>
        <p:spPr>
          <a:xfrm>
            <a:off x="3246120" y="2788920"/>
            <a:ext cx="5349240" cy="530352"/>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Fotos (4)</a:t>
            </a:r>
            <a:endParaRPr lang="en-US" sz="1300" dirty="0"/>
          </a:p>
          <a:p>
            <a:pPr indent="0" marL="0">
              <a:buNone/>
            </a:pPr>
            <a:r>
              <a:rPr lang="en-US" sz="1100" dirty="0">
                <a:solidFill>
                  <a:srgbClr val="1F2A24"/>
                </a:solidFill>
                <a:latin typeface="Calibri" pitchFamily="34" charset="0"/>
                <a:ea typeface="Calibri" pitchFamily="34" charset="-122"/>
                <a:cs typeface="Calibri" pitchFamily="34" charset="-120"/>
              </a:rPr>
              <a:t>uploadLotPhoto · listLotPhotos · removeLotPhoto · getLotPhotoImage</a:t>
            </a:r>
            <a:endParaRPr lang="en-US" sz="1300" dirty="0"/>
          </a:p>
        </p:txBody>
      </p:sp>
      <p:sp>
        <p:nvSpPr>
          <p:cNvPr id="12" name="Shape 10"/>
          <p:cNvSpPr/>
          <p:nvPr/>
        </p:nvSpPr>
        <p:spPr>
          <a:xfrm>
            <a:off x="3108960" y="3465576"/>
            <a:ext cx="5577840" cy="603504"/>
          </a:xfrm>
          <a:prstGeom prst="roundRect">
            <a:avLst>
              <a:gd name="adj" fmla="val 12121"/>
            </a:avLst>
          </a:prstGeom>
          <a:solidFill>
            <a:srgbClr val="E9F2EC"/>
          </a:solidFill>
          <a:ln w="12700">
            <a:solidFill>
              <a:srgbClr val="E9F2EC"/>
            </a:solidFill>
            <a:prstDash val="solid"/>
          </a:ln>
        </p:spPr>
        <p:txBody>
          <a:bodyPr/>
          <a:p/>
        </p:txBody>
      </p:sp>
      <p:sp>
        <p:nvSpPr>
          <p:cNvPr id="13" name="Text 11"/>
          <p:cNvSpPr txBox="1"/>
          <p:nvPr/>
        </p:nvSpPr>
        <p:spPr>
          <a:xfrm>
            <a:off x="3246120" y="3502152"/>
            <a:ext cx="5349240" cy="530352"/>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Descubrimiento (3)</a:t>
            </a:r>
            <a:endParaRPr lang="en-US" sz="1300" dirty="0"/>
          </a:p>
          <a:p>
            <a:pPr indent="0" marL="0">
              <a:buNone/>
            </a:pPr>
            <a:r>
              <a:rPr lang="en-US" sz="1100" dirty="0">
                <a:solidFill>
                  <a:srgbClr val="1F2A24"/>
                </a:solidFill>
                <a:latin typeface="Calibri" pitchFamily="34" charset="0"/>
                <a:ea typeface="Calibri" pitchFamily="34" charset="-122"/>
                <a:cs typeface="Calibri" pitchFamily="34" charset="-120"/>
              </a:rPr>
              <a:t>searchPublicLots · getPublicLot · reservePublicLot</a:t>
            </a:r>
            <a:endParaRPr lang="en-US" sz="1300" dirty="0"/>
          </a:p>
        </p:txBody>
      </p:sp>
      <p:sp>
        <p:nvSpPr>
          <p:cNvPr id="14" name="Text 12"/>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200" i="1" dirty="0">
                <a:solidFill>
                  <a:srgbClr val="1E4D3A"/>
                </a:solidFill>
                <a:latin typeface="Calibri" pitchFamily="34" charset="0"/>
                <a:ea typeface="Calibri" pitchFamily="34" charset="-122"/>
                <a:cs typeface="Calibri" pitchFamily="34" charset="-120"/>
              </a:rPr>
              <a:t>Errores {error:{code,message,details}}; Ajv valida las respuestas reales contra el YAML en las pruebas.</a:t>
            </a:r>
            <a:endParaRPr lang="en-US" sz="1200" dirty="0"/>
          </a:p>
        </p:txBody>
      </p:sp>
      <p:sp>
        <p:nvSpPr>
          <p:cNvPr id="15" name="Text 13"/>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Modelo de datos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8 migraciones SQL versionadas, probadas desde base vacía, versión previa y rollback</a:t>
            </a:r>
            <a:endParaRPr lang="en-US" sz="1300" dirty="0"/>
          </a:p>
        </p:txBody>
      </p:sp>
      <p:sp>
        <p:nvSpPr>
          <p:cNvPr id="4" name="Shape 2"/>
          <p:cNvSpPr/>
          <p:nvPr/>
        </p:nvSpPr>
        <p:spPr>
          <a:xfrm>
            <a:off x="457200" y="1325880"/>
            <a:ext cx="2606040" cy="2377440"/>
          </a:xfrm>
          <a:prstGeom prst="roundRect">
            <a:avLst>
              <a:gd name="adj" fmla="val 3077"/>
            </a:avLst>
          </a:prstGeom>
          <a:solidFill>
            <a:srgbClr val="E9F2EC"/>
          </a:solidFill>
          <a:ln w="12700">
            <a:solidFill>
              <a:srgbClr val="E9F2EC"/>
            </a:solidFill>
            <a:prstDash val="solid"/>
          </a:ln>
        </p:spPr>
        <p:txBody>
          <a:bodyPr/>
          <a:p/>
        </p:txBody>
      </p:sp>
      <p:sp>
        <p:nvSpPr>
          <p:cNvPr id="5" name="Shape 3"/>
          <p:cNvSpPr/>
          <p:nvPr/>
        </p:nvSpPr>
        <p:spPr>
          <a:xfrm>
            <a:off x="594360" y="1444752"/>
            <a:ext cx="457200" cy="457200"/>
          </a:xfrm>
          <a:prstGeom prst="ellipse">
            <a:avLst/>
          </a:prstGeom>
          <a:solidFill>
            <a:srgbClr val="1E4D3A"/>
          </a:solidFill>
          <a:ln w="12700">
            <a:solidFill>
              <a:srgbClr val="1E4D3A"/>
            </a:solidFill>
            <a:prstDash val="solid"/>
          </a:ln>
        </p:spPr>
        <p:txBody>
          <a:bodyPr/>
          <a:p/>
        </p:txBody>
      </p:sp>
      <p:pic>
        <p:nvPicPr>
          <p:cNvPr id="6" name="Image 0" descr="preencoded.png">    </p:cNvPr>
          <p:cNvPicPr>
            <a:picLocks noChangeAspect="1"/>
          </p:cNvPicPr>
          <p:nvPr/>
        </p:nvPicPr>
        <p:blipFill>
          <a:blip r:embed="rId1"/>
          <a:stretch>
            <a:fillRect/>
          </a:stretch>
        </p:blipFill>
        <p:spPr>
          <a:xfrm>
            <a:off x="704088" y="1554480"/>
            <a:ext cx="237744" cy="237744"/>
          </a:xfrm>
          <a:prstGeom prst="rect">
            <a:avLst/>
          </a:prstGeom>
        </p:spPr>
      </p:pic>
      <p:sp>
        <p:nvSpPr>
          <p:cNvPr id="7" name="Text 4"/>
          <p:cNvSpPr txBox="1"/>
          <p:nvPr/>
        </p:nvSpPr>
        <p:spPr>
          <a:xfrm>
            <a:off x="1143000" y="1463040"/>
            <a:ext cx="1828800" cy="411480"/>
          </a:xfrm>
          <a:prstGeom prst="rect">
            <a:avLst/>
          </a:prstGeom>
          <a:noFill/>
          <a:ln/>
        </p:spPr>
        <p:txBody>
          <a:bodyPr wrap="square" lIns="0" tIns="0" rIns="0" bIns="0" rtlCol="0" anchor="ctr"/>
          <a:lstStyle/>
          <a:p>
            <a:pPr indent="0" marL="0">
              <a:buNone/>
            </a:pPr>
            <a:r>
              <a:rPr lang="en-US" sz="1600" b="1" dirty="0">
                <a:solidFill>
                  <a:srgbClr val="1E4D3A"/>
                </a:solidFill>
                <a:latin typeface="Cambria" pitchFamily="34" charset="0"/>
                <a:ea typeface="Cambria" pitchFamily="34" charset="-122"/>
                <a:cs typeface="Cambria" pitchFamily="34" charset="-120"/>
              </a:rPr>
              <a:t>Identidad</a:t>
            </a:r>
            <a:endParaRPr lang="en-US" sz="1600" dirty="0"/>
          </a:p>
        </p:txBody>
      </p:sp>
      <p:sp>
        <p:nvSpPr>
          <p:cNvPr id="8" name="Text 5"/>
          <p:cNvSpPr txBox="1"/>
          <p:nvPr/>
        </p:nvSpPr>
        <p:spPr>
          <a:xfrm>
            <a:off x="640080" y="2011680"/>
            <a:ext cx="2286000"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users</a:t>
            </a:r>
            <a:endParaRPr lang="en-US" sz="1300" dirty="0"/>
          </a:p>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user_credentials</a:t>
            </a:r>
            <a:endParaRPr lang="en-US" sz="1300" dirty="0"/>
          </a:p>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sessions</a:t>
            </a:r>
            <a:endParaRPr lang="en-US" sz="1300" dirty="0"/>
          </a:p>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login_security_state</a:t>
            </a:r>
            <a:endParaRPr lang="en-US" sz="1300" dirty="0"/>
          </a:p>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login_failures</a:t>
            </a:r>
            <a:endParaRPr lang="en-US" sz="1300" dirty="0"/>
          </a:p>
        </p:txBody>
      </p:sp>
      <p:sp>
        <p:nvSpPr>
          <p:cNvPr id="9" name="Shape 6"/>
          <p:cNvSpPr/>
          <p:nvPr/>
        </p:nvSpPr>
        <p:spPr>
          <a:xfrm>
            <a:off x="3246120" y="1325880"/>
            <a:ext cx="2606040" cy="2377440"/>
          </a:xfrm>
          <a:prstGeom prst="roundRect">
            <a:avLst>
              <a:gd name="adj" fmla="val 3077"/>
            </a:avLst>
          </a:prstGeom>
          <a:solidFill>
            <a:srgbClr val="E9F2EC"/>
          </a:solidFill>
          <a:ln w="12700">
            <a:solidFill>
              <a:srgbClr val="E9F2EC"/>
            </a:solidFill>
            <a:prstDash val="solid"/>
          </a:ln>
        </p:spPr>
        <p:txBody>
          <a:bodyPr/>
          <a:p/>
        </p:txBody>
      </p:sp>
      <p:sp>
        <p:nvSpPr>
          <p:cNvPr id="10" name="Shape 7"/>
          <p:cNvSpPr/>
          <p:nvPr/>
        </p:nvSpPr>
        <p:spPr>
          <a:xfrm>
            <a:off x="3383280" y="1444752"/>
            <a:ext cx="457200" cy="457200"/>
          </a:xfrm>
          <a:prstGeom prst="ellipse">
            <a:avLst/>
          </a:prstGeom>
          <a:solidFill>
            <a:srgbClr val="1E4D3A"/>
          </a:solidFill>
          <a:ln w="12700">
            <a:solidFill>
              <a:srgbClr val="1E4D3A"/>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3493008" y="1554480"/>
            <a:ext cx="237744" cy="237744"/>
          </a:xfrm>
          <a:prstGeom prst="rect">
            <a:avLst/>
          </a:prstGeom>
        </p:spPr>
      </p:pic>
      <p:sp>
        <p:nvSpPr>
          <p:cNvPr id="12" name="Text 8"/>
          <p:cNvSpPr txBox="1"/>
          <p:nvPr/>
        </p:nvSpPr>
        <p:spPr>
          <a:xfrm>
            <a:off x="3931920" y="1463040"/>
            <a:ext cx="1828800" cy="411480"/>
          </a:xfrm>
          <a:prstGeom prst="rect">
            <a:avLst/>
          </a:prstGeom>
          <a:noFill/>
          <a:ln/>
        </p:spPr>
        <p:txBody>
          <a:bodyPr wrap="square" lIns="0" tIns="0" rIns="0" bIns="0" rtlCol="0" anchor="ctr"/>
          <a:lstStyle/>
          <a:p>
            <a:pPr indent="0" marL="0">
              <a:buNone/>
            </a:pPr>
            <a:r>
              <a:rPr lang="en-US" sz="1600" b="1" dirty="0">
                <a:solidFill>
                  <a:srgbClr val="1E4D3A"/>
                </a:solidFill>
                <a:latin typeface="Cambria" pitchFamily="34" charset="0"/>
                <a:ea typeface="Cambria" pitchFamily="34" charset="-122"/>
                <a:cs typeface="Cambria" pitchFamily="34" charset="-120"/>
              </a:rPr>
              <a:t>Publicación</a:t>
            </a:r>
            <a:endParaRPr lang="en-US" sz="1600" dirty="0"/>
          </a:p>
        </p:txBody>
      </p:sp>
      <p:sp>
        <p:nvSpPr>
          <p:cNvPr id="13" name="Text 9"/>
          <p:cNvSpPr txBox="1"/>
          <p:nvPr/>
        </p:nvSpPr>
        <p:spPr>
          <a:xfrm>
            <a:off x="3429000" y="2011680"/>
            <a:ext cx="2286000"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establishments</a:t>
            </a:r>
            <a:endParaRPr lang="en-US" sz="1300" dirty="0"/>
          </a:p>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memberships</a:t>
            </a:r>
            <a:endParaRPr lang="en-US" sz="1300" dirty="0"/>
          </a:p>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lots</a:t>
            </a:r>
            <a:endParaRPr lang="en-US" sz="1300" dirty="0"/>
          </a:p>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lot_photos</a:t>
            </a:r>
            <a:endParaRPr lang="en-US" sz="1300" dirty="0"/>
          </a:p>
        </p:txBody>
      </p:sp>
      <p:sp>
        <p:nvSpPr>
          <p:cNvPr id="14" name="Shape 10"/>
          <p:cNvSpPr/>
          <p:nvPr/>
        </p:nvSpPr>
        <p:spPr>
          <a:xfrm>
            <a:off x="6035040" y="1325880"/>
            <a:ext cx="2606040" cy="2377440"/>
          </a:xfrm>
          <a:prstGeom prst="roundRect">
            <a:avLst>
              <a:gd name="adj" fmla="val 3077"/>
            </a:avLst>
          </a:prstGeom>
          <a:solidFill>
            <a:srgbClr val="E9F2EC"/>
          </a:solidFill>
          <a:ln w="12700">
            <a:solidFill>
              <a:srgbClr val="E9F2EC"/>
            </a:solidFill>
            <a:prstDash val="solid"/>
          </a:ln>
        </p:spPr>
        <p:txBody>
          <a:bodyPr/>
          <a:p/>
        </p:txBody>
      </p:sp>
      <p:sp>
        <p:nvSpPr>
          <p:cNvPr id="15" name="Shape 11"/>
          <p:cNvSpPr/>
          <p:nvPr/>
        </p:nvSpPr>
        <p:spPr>
          <a:xfrm>
            <a:off x="6172200" y="1444752"/>
            <a:ext cx="457200" cy="457200"/>
          </a:xfrm>
          <a:prstGeom prst="ellipse">
            <a:avLst/>
          </a:prstGeom>
          <a:solidFill>
            <a:srgbClr val="1E4D3A"/>
          </a:solidFill>
          <a:ln w="12700">
            <a:solidFill>
              <a:srgbClr val="1E4D3A"/>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6281928" y="1554480"/>
            <a:ext cx="237744" cy="237744"/>
          </a:xfrm>
          <a:prstGeom prst="rect">
            <a:avLst/>
          </a:prstGeom>
        </p:spPr>
      </p:pic>
      <p:sp>
        <p:nvSpPr>
          <p:cNvPr id="17" name="Text 12"/>
          <p:cNvSpPr txBox="1"/>
          <p:nvPr/>
        </p:nvSpPr>
        <p:spPr>
          <a:xfrm>
            <a:off x="6720840" y="1463040"/>
            <a:ext cx="1828800" cy="411480"/>
          </a:xfrm>
          <a:prstGeom prst="rect">
            <a:avLst/>
          </a:prstGeom>
          <a:noFill/>
          <a:ln/>
        </p:spPr>
        <p:txBody>
          <a:bodyPr wrap="square" lIns="0" tIns="0" rIns="0" bIns="0" rtlCol="0" anchor="ctr"/>
          <a:lstStyle/>
          <a:p>
            <a:pPr indent="0" marL="0">
              <a:buNone/>
            </a:pPr>
            <a:r>
              <a:rPr lang="en-US" sz="1600" b="1" dirty="0">
                <a:solidFill>
                  <a:srgbClr val="1E4D3A"/>
                </a:solidFill>
                <a:latin typeface="Cambria" pitchFamily="34" charset="0"/>
                <a:ea typeface="Cambria" pitchFamily="34" charset="-122"/>
                <a:cs typeface="Cambria" pitchFamily="34" charset="-120"/>
              </a:rPr>
              <a:t>Asignación</a:t>
            </a:r>
            <a:endParaRPr lang="en-US" sz="1600" dirty="0"/>
          </a:p>
        </p:txBody>
      </p:sp>
      <p:sp>
        <p:nvSpPr>
          <p:cNvPr id="18" name="Text 13"/>
          <p:cNvSpPr txBox="1"/>
          <p:nvPr/>
        </p:nvSpPr>
        <p:spPr>
          <a:xfrm>
            <a:off x="6217920" y="2011680"/>
            <a:ext cx="2286000"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A24"/>
                </a:solidFill>
                <a:latin typeface="Calibri" pitchFamily="34" charset="0"/>
                <a:ea typeface="Calibri" pitchFamily="34" charset="-122"/>
                <a:cs typeface="Calibri" pitchFamily="34" charset="-120"/>
              </a:rPr>
              <a:t>commitments</a:t>
            </a:r>
            <a:endParaRPr lang="en-US" sz="1300" dirty="0"/>
          </a:p>
        </p:txBody>
      </p:sp>
      <p:sp>
        <p:nvSpPr>
          <p:cNvPr id="19" name="Text 14"/>
          <p:cNvSpPr txBox="1"/>
          <p:nvPr/>
        </p:nvSpPr>
        <p:spPr>
          <a:xfrm>
            <a:off x="6217920" y="2423160"/>
            <a:ext cx="2286000" cy="1143000"/>
          </a:xfrm>
          <a:prstGeom prst="rect">
            <a:avLst/>
          </a:prstGeom>
          <a:noFill/>
          <a:ln/>
        </p:spPr>
        <p:txBody>
          <a:bodyPr wrap="square" lIns="0" tIns="0" rIns="0" bIns="0" rtlCol="0" anchor="t"/>
          <a:lstStyle/>
          <a:p>
            <a:pPr indent="0" marL="0">
              <a:buNone/>
            </a:pPr>
            <a:r>
              <a:rPr lang="en-US" sz="1150" i="1" dirty="0">
                <a:solidFill>
                  <a:srgbClr val="5B6B62"/>
                </a:solidFill>
                <a:latin typeface="Calibri" pitchFamily="34" charset="0"/>
                <a:ea typeface="Calibri" pitchFamily="34" charset="-122"/>
                <a:cs typeface="Calibri" pitchFamily="34" charset="-120"/>
              </a:rPr>
              <a:t>Reservas confirmadas con clave idempotente. Solicitudes, ofertas, entregas y códigos se agregan en S04–S05.</a:t>
            </a:r>
            <a:endParaRPr lang="en-US" sz="1150" dirty="0"/>
          </a:p>
        </p:txBody>
      </p:sp>
      <p:sp>
        <p:nvSpPr>
          <p:cNvPr id="20" name="Text 15"/>
          <p:cNvSpPr txBox="1"/>
          <p:nvPr/>
        </p:nvSpPr>
        <p:spPr>
          <a:xfrm>
            <a:off x="457200" y="3886200"/>
            <a:ext cx="8229600" cy="685800"/>
          </a:xfrm>
          <a:prstGeom prst="rect">
            <a:avLst/>
          </a:prstGeom>
          <a:noFill/>
          <a:ln/>
        </p:spPr>
        <p:txBody>
          <a:bodyPr wrap="square" lIns="0" tIns="0" rIns="0" bIns="0" rtlCol="0" anchor="ctr"/>
          <a:lstStyle/>
          <a:p>
            <a:pPr indent="0" marL="0">
              <a:buNone/>
            </a:pPr>
            <a:r>
              <a:rPr lang="en-US" sz="1200" b="1" dirty="0">
                <a:solidFill>
                  <a:srgbClr val="D9512C"/>
                </a:solidFill>
                <a:latin typeface="Calibri" pitchFamily="34" charset="0"/>
                <a:ea typeface="Calibri" pitchFamily="34" charset="-122"/>
                <a:cs typeface="Calibri" pitchFamily="34" charset="-120"/>
              </a:rPr>
              <a:t>Reglas en la base: </a:t>
            </a:r>
            <a:pPr indent="0" marL="0">
              <a:buNone/>
            </a:pPr>
            <a:r>
              <a:rPr lang="en-US" sz="1200" dirty="0">
                <a:solidFill>
                  <a:srgbClr val="1F2A24"/>
                </a:solidFill>
                <a:latin typeface="Calibri" pitchFamily="34" charset="0"/>
                <a:ea typeface="Calibri" pitchFamily="34" charset="-122"/>
                <a:cs typeface="Calibri" pitchFamily="34" charset="-120"/>
              </a:rPr>
              <a:t>IDs públicos UUID (PK bigint nunca salen por HTTP), correo canónico único, versión optimista del lote, clave idempotente por actor, índice GiST para cercanía y hasta 3 fotos activas por lote.</a:t>
            </a:r>
            <a:endParaRPr lang="en-US" sz="1200" dirty="0"/>
          </a:p>
        </p:txBody>
      </p:sp>
      <p:sp>
        <p:nvSpPr>
          <p:cNvPr id="21" name="Text 16"/>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Fotos: solo se publican fotos listas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K014 · RF02 · responde a «¿incluirán imágenes de los paquetes?» de E1</a:t>
            </a:r>
            <a:endParaRPr lang="en-US" sz="1300" dirty="0"/>
          </a:p>
        </p:txBody>
      </p:sp>
      <p:sp>
        <p:nvSpPr>
          <p:cNvPr id="4" name="Shape 2"/>
          <p:cNvSpPr/>
          <p:nvPr/>
        </p:nvSpPr>
        <p:spPr>
          <a:xfrm>
            <a:off x="457200" y="1325880"/>
            <a:ext cx="457200" cy="457200"/>
          </a:xfrm>
          <a:prstGeom prst="ellipse">
            <a:avLst/>
          </a:prstGeom>
          <a:solidFill>
            <a:srgbClr val="1E4D3A"/>
          </a:solidFill>
          <a:ln w="12700">
            <a:solidFill>
              <a:srgbClr val="1E4D3A"/>
            </a:solidFill>
            <a:prstDash val="solid"/>
          </a:ln>
        </p:spPr>
        <p:txBody>
          <a:bodyPr/>
          <a:p/>
        </p:txBody>
      </p:sp>
      <p:pic>
        <p:nvPicPr>
          <p:cNvPr id="5" name="Image 0" descr="preencoded.png">    </p:cNvPr>
          <p:cNvPicPr>
            <a:picLocks noChangeAspect="1"/>
          </p:cNvPicPr>
          <p:nvPr/>
        </p:nvPicPr>
        <p:blipFill>
          <a:blip r:embed="rId1"/>
          <a:stretch>
            <a:fillRect/>
          </a:stretch>
        </p:blipFill>
        <p:spPr>
          <a:xfrm>
            <a:off x="566928" y="1435608"/>
            <a:ext cx="237744" cy="237744"/>
          </a:xfrm>
          <a:prstGeom prst="rect">
            <a:avLst/>
          </a:prstGeom>
        </p:spPr>
      </p:pic>
      <p:sp>
        <p:nvSpPr>
          <p:cNvPr id="6" name="Text 3"/>
          <p:cNvSpPr txBox="1"/>
          <p:nvPr/>
        </p:nvSpPr>
        <p:spPr>
          <a:xfrm>
            <a:off x="1051560" y="1280160"/>
            <a:ext cx="4389120" cy="54864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Autorizar  </a:t>
            </a:r>
            <a:pPr indent="0" marL="0">
              <a:buNone/>
            </a:pPr>
            <a:r>
              <a:rPr lang="en-US" sz="1300" dirty="0">
                <a:solidFill>
                  <a:srgbClr val="1F2A24"/>
                </a:solidFill>
                <a:latin typeface="Calibri" pitchFamily="34" charset="0"/>
                <a:ea typeface="Calibri" pitchFamily="34" charset="-122"/>
                <a:cs typeface="Calibri" pitchFamily="34" charset="-120"/>
              </a:rPr>
              <a:t>Membership, borrador, ≤3 fotos, ≤2 cargas, 5 min</a:t>
            </a:r>
            <a:endParaRPr lang="en-US" sz="1300" dirty="0"/>
          </a:p>
        </p:txBody>
      </p:sp>
      <p:sp>
        <p:nvSpPr>
          <p:cNvPr id="7" name="Shape 4"/>
          <p:cNvSpPr/>
          <p:nvPr/>
        </p:nvSpPr>
        <p:spPr>
          <a:xfrm>
            <a:off x="457200" y="1947672"/>
            <a:ext cx="457200" cy="457200"/>
          </a:xfrm>
          <a:prstGeom prst="ellipse">
            <a:avLst/>
          </a:prstGeom>
          <a:solidFill>
            <a:srgbClr val="1E4D3A"/>
          </a:solidFill>
          <a:ln w="12700">
            <a:solidFill>
              <a:srgbClr val="1E4D3A"/>
            </a:solidFill>
            <a:prstDash val="solid"/>
          </a:ln>
        </p:spPr>
        <p:txBody>
          <a:bodyPr/>
          <a:p/>
        </p:txBody>
      </p:sp>
      <p:pic>
        <p:nvPicPr>
          <p:cNvPr id="8" name="Image 1" descr="preencoded.png">    </p:cNvPr>
          <p:cNvPicPr>
            <a:picLocks noChangeAspect="1"/>
          </p:cNvPicPr>
          <p:nvPr/>
        </p:nvPicPr>
        <p:blipFill>
          <a:blip r:embed="rId2"/>
          <a:stretch>
            <a:fillRect/>
          </a:stretch>
        </p:blipFill>
        <p:spPr>
          <a:xfrm>
            <a:off x="566928" y="2057400"/>
            <a:ext cx="237744" cy="237744"/>
          </a:xfrm>
          <a:prstGeom prst="rect">
            <a:avLst/>
          </a:prstGeom>
        </p:spPr>
      </p:pic>
      <p:sp>
        <p:nvSpPr>
          <p:cNvPr id="9" name="Text 5"/>
          <p:cNvSpPr txBox="1"/>
          <p:nvPr/>
        </p:nvSpPr>
        <p:spPr>
          <a:xfrm>
            <a:off x="1051560" y="1901952"/>
            <a:ext cx="4389120" cy="54864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Recibir  </a:t>
            </a:r>
            <a:pPr indent="0" marL="0">
              <a:buNone/>
            </a:pPr>
            <a:r>
              <a:rPr lang="en-US" sz="1300" dirty="0">
                <a:solidFill>
                  <a:srgbClr val="1F2A24"/>
                </a:solidFill>
                <a:latin typeface="Calibri" pitchFamily="34" charset="0"/>
                <a:ea typeface="Calibri" pitchFamily="34" charset="-122"/>
                <a:cs typeface="Calibri" pitchFamily="34" charset="-120"/>
              </a:rPr>
              <a:t>Binario ≤5 MiB; firma JPEG, PNG o WebP</a:t>
            </a:r>
            <a:endParaRPr lang="en-US" sz="1300" dirty="0"/>
          </a:p>
        </p:txBody>
      </p:sp>
      <p:sp>
        <p:nvSpPr>
          <p:cNvPr id="10" name="Shape 6"/>
          <p:cNvSpPr/>
          <p:nvPr/>
        </p:nvSpPr>
        <p:spPr>
          <a:xfrm>
            <a:off x="457200" y="2569464"/>
            <a:ext cx="457200" cy="457200"/>
          </a:xfrm>
          <a:prstGeom prst="ellipse">
            <a:avLst/>
          </a:prstGeom>
          <a:solidFill>
            <a:srgbClr val="1E4D3A"/>
          </a:solidFill>
          <a:ln w="12700">
            <a:solidFill>
              <a:srgbClr val="1E4D3A"/>
            </a:solidFill>
            <a:prstDash val="solid"/>
          </a:ln>
        </p:spPr>
        <p:txBody>
          <a:bodyPr/>
          <a:p/>
        </p:txBody>
      </p:sp>
      <p:pic>
        <p:nvPicPr>
          <p:cNvPr id="11" name="Image 2" descr="preencoded.png">    </p:cNvPr>
          <p:cNvPicPr>
            <a:picLocks noChangeAspect="1"/>
          </p:cNvPicPr>
          <p:nvPr/>
        </p:nvPicPr>
        <p:blipFill>
          <a:blip r:embed="rId3"/>
          <a:stretch>
            <a:fillRect/>
          </a:stretch>
        </p:blipFill>
        <p:spPr>
          <a:xfrm>
            <a:off x="566928" y="2679192"/>
            <a:ext cx="237744" cy="237744"/>
          </a:xfrm>
          <a:prstGeom prst="rect">
            <a:avLst/>
          </a:prstGeom>
        </p:spPr>
      </p:pic>
      <p:sp>
        <p:nvSpPr>
          <p:cNvPr id="12" name="Text 7"/>
          <p:cNvSpPr txBox="1"/>
          <p:nvPr/>
        </p:nvSpPr>
        <p:spPr>
          <a:xfrm>
            <a:off x="1051560" y="2523744"/>
            <a:ext cx="4389120" cy="54864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Validar  </a:t>
            </a:r>
            <a:pPr indent="0" marL="0">
              <a:buNone/>
            </a:pPr>
            <a:r>
              <a:rPr lang="en-US" sz="1300" dirty="0">
                <a:solidFill>
                  <a:srgbClr val="1F2A24"/>
                </a:solidFill>
                <a:latin typeface="Calibri" pitchFamily="34" charset="0"/>
                <a:ea typeface="Calibri" pitchFamily="34" charset="-122"/>
                <a:cs typeface="Calibri" pitchFamily="34" charset="-120"/>
              </a:rPr>
              <a:t>Worker con sharp: sin SVG ni animaciones, ≤20 MP</a:t>
            </a:r>
            <a:endParaRPr lang="en-US" sz="1300" dirty="0"/>
          </a:p>
        </p:txBody>
      </p:sp>
      <p:sp>
        <p:nvSpPr>
          <p:cNvPr id="13" name="Shape 8"/>
          <p:cNvSpPr/>
          <p:nvPr/>
        </p:nvSpPr>
        <p:spPr>
          <a:xfrm>
            <a:off x="457200" y="3191256"/>
            <a:ext cx="457200" cy="457200"/>
          </a:xfrm>
          <a:prstGeom prst="ellipse">
            <a:avLst/>
          </a:prstGeom>
          <a:solidFill>
            <a:srgbClr val="1E4D3A"/>
          </a:solidFill>
          <a:ln w="12700">
            <a:solidFill>
              <a:srgbClr val="1E4D3A"/>
            </a:solidFill>
            <a:prstDash val="solid"/>
          </a:ln>
        </p:spPr>
        <p:txBody>
          <a:bodyPr/>
          <a:p/>
        </p:txBody>
      </p:sp>
      <p:pic>
        <p:nvPicPr>
          <p:cNvPr id="14" name="Image 3" descr="preencoded.png">    </p:cNvPr>
          <p:cNvPicPr>
            <a:picLocks noChangeAspect="1"/>
          </p:cNvPicPr>
          <p:nvPr/>
        </p:nvPicPr>
        <p:blipFill>
          <a:blip r:embed="rId4"/>
          <a:stretch>
            <a:fillRect/>
          </a:stretch>
        </p:blipFill>
        <p:spPr>
          <a:xfrm>
            <a:off x="566928" y="3300984"/>
            <a:ext cx="237744" cy="237744"/>
          </a:xfrm>
          <a:prstGeom prst="rect">
            <a:avLst/>
          </a:prstGeom>
        </p:spPr>
      </p:pic>
      <p:sp>
        <p:nvSpPr>
          <p:cNvPr id="15" name="Text 9"/>
          <p:cNvSpPr txBox="1"/>
          <p:nvPr/>
        </p:nvSpPr>
        <p:spPr>
          <a:xfrm>
            <a:off x="1051560" y="3145536"/>
            <a:ext cx="4389120" cy="54864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Transformar  </a:t>
            </a:r>
            <a:pPr indent="0" marL="0">
              <a:buNone/>
            </a:pPr>
            <a:r>
              <a:rPr lang="en-US" sz="1300" dirty="0">
                <a:solidFill>
                  <a:srgbClr val="1F2A24"/>
                </a:solidFill>
                <a:latin typeface="Calibri" pitchFamily="34" charset="0"/>
                <a:ea typeface="Calibri" pitchFamily="34" charset="-122"/>
                <a:cs typeface="Calibri" pitchFamily="34" charset="-120"/>
              </a:rPr>
              <a:t>WebP 1600 px/500 KiB y miniatura 400 px/100 KiB, sin EXIF</a:t>
            </a:r>
            <a:endParaRPr lang="en-US" sz="1300" dirty="0"/>
          </a:p>
        </p:txBody>
      </p:sp>
      <p:sp>
        <p:nvSpPr>
          <p:cNvPr id="16" name="Shape 10"/>
          <p:cNvSpPr/>
          <p:nvPr/>
        </p:nvSpPr>
        <p:spPr>
          <a:xfrm>
            <a:off x="457200" y="3813048"/>
            <a:ext cx="457200" cy="457200"/>
          </a:xfrm>
          <a:prstGeom prst="ellipse">
            <a:avLst/>
          </a:prstGeom>
          <a:solidFill>
            <a:srgbClr val="D9512C"/>
          </a:solidFill>
          <a:ln w="12700">
            <a:solidFill>
              <a:srgbClr val="D9512C"/>
            </a:solidFill>
            <a:prstDash val="solid"/>
          </a:ln>
        </p:spPr>
        <p:txBody>
          <a:bodyPr/>
          <a:p/>
        </p:txBody>
      </p:sp>
      <p:pic>
        <p:nvPicPr>
          <p:cNvPr id="17" name="Image 4" descr="preencoded.png">    </p:cNvPr>
          <p:cNvPicPr>
            <a:picLocks noChangeAspect="1"/>
          </p:cNvPicPr>
          <p:nvPr/>
        </p:nvPicPr>
        <p:blipFill>
          <a:blip r:embed="rId5"/>
          <a:stretch>
            <a:fillRect/>
          </a:stretch>
        </p:blipFill>
        <p:spPr>
          <a:xfrm>
            <a:off x="566928" y="3922776"/>
            <a:ext cx="237744" cy="237744"/>
          </a:xfrm>
          <a:prstGeom prst="rect">
            <a:avLst/>
          </a:prstGeom>
        </p:spPr>
      </p:pic>
      <p:sp>
        <p:nvSpPr>
          <p:cNvPr id="18" name="Text 11"/>
          <p:cNvSpPr txBox="1"/>
          <p:nvPr/>
        </p:nvSpPr>
        <p:spPr>
          <a:xfrm>
            <a:off x="1051560" y="3767328"/>
            <a:ext cx="4389120" cy="54864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Publicar  </a:t>
            </a:r>
            <a:pPr indent="0" marL="0">
              <a:buNone/>
            </a:pPr>
            <a:r>
              <a:rPr lang="en-US" sz="1300" dirty="0">
                <a:solidFill>
                  <a:srgbClr val="1F2A24"/>
                </a:solidFill>
                <a:latin typeface="Calibri" pitchFamily="34" charset="0"/>
                <a:ea typeface="Calibri" pitchFamily="34" charset="-122"/>
                <a:cs typeface="Calibri" pitchFamily="34" charset="-120"/>
              </a:rPr>
              <a:t>422 si alguna no está lista; luego quedan fijas</a:t>
            </a:r>
            <a:endParaRPr lang="en-US" sz="1300" dirty="0"/>
          </a:p>
        </p:txBody>
      </p:sp>
      <p:sp>
        <p:nvSpPr>
          <p:cNvPr id="19" name="Shape 12"/>
          <p:cNvSpPr/>
          <p:nvPr/>
        </p:nvSpPr>
        <p:spPr>
          <a:xfrm>
            <a:off x="5669280" y="1280160"/>
            <a:ext cx="3017520" cy="3063240"/>
          </a:xfrm>
          <a:prstGeom prst="roundRect">
            <a:avLst>
              <a:gd name="adj" fmla="val 2424"/>
            </a:avLst>
          </a:prstGeom>
          <a:solidFill>
            <a:srgbClr val="E9F2EC"/>
          </a:solidFill>
          <a:ln w="12700">
            <a:solidFill>
              <a:srgbClr val="E9F2EC"/>
            </a:solidFill>
            <a:prstDash val="solid"/>
          </a:ln>
        </p:spPr>
        <p:txBody>
          <a:bodyPr/>
          <a:p/>
        </p:txBody>
      </p:sp>
      <p:sp>
        <p:nvSpPr>
          <p:cNvPr id="20" name="Text 13"/>
          <p:cNvSpPr txBox="1"/>
          <p:nvPr/>
        </p:nvSpPr>
        <p:spPr>
          <a:xfrm>
            <a:off x="5806440" y="1371600"/>
            <a:ext cx="2788920" cy="365760"/>
          </a:xfrm>
          <a:prstGeom prst="rect">
            <a:avLst/>
          </a:prstGeom>
          <a:noFill/>
          <a:ln/>
        </p:spPr>
        <p:txBody>
          <a:bodyPr wrap="square" lIns="0" tIns="0" rIns="0" bIns="0" rtlCol="0" anchor="ctr"/>
          <a:lstStyle/>
          <a:p>
            <a:pPr indent="0" marL="0">
              <a:buNone/>
            </a:pPr>
            <a:r>
              <a:rPr lang="en-US" sz="1300" b="1" dirty="0">
                <a:solidFill>
                  <a:srgbClr val="1E4D3A"/>
                </a:solidFill>
                <a:latin typeface="Cambria" pitchFamily="34" charset="0"/>
                <a:ea typeface="Cambria" pitchFamily="34" charset="-122"/>
                <a:cs typeface="Cambria" pitchFamily="34" charset="-120"/>
              </a:rPr>
              <a:t>Probado en PostgreSQL real</a:t>
            </a:r>
            <a:endParaRPr lang="en-US" sz="1300" dirty="0"/>
          </a:p>
        </p:txBody>
      </p:sp>
      <p:sp>
        <p:nvSpPr>
          <p:cNvPr id="21" name="Text 14"/>
          <p:cNvSpPr txBox="1"/>
          <p:nvPr/>
        </p:nvSpPr>
        <p:spPr>
          <a:xfrm>
            <a:off x="5806440" y="1874520"/>
            <a:ext cx="278892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Acceso ajeno rechazado sin leer bytes</a:t>
            </a:r>
            <a:endParaRPr lang="en-US" sz="1200" dirty="0"/>
          </a:p>
          <a:p>
            <a:pPr marL="342900" indent="-342900">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Archivo falso y de más de 5 MiB</a:t>
            </a:r>
            <a:endParaRPr lang="en-US" sz="1200" dirty="0"/>
          </a:p>
          <a:p>
            <a:pPr marL="342900" indent="-342900">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Reinicio del worker sin duplicar</a:t>
            </a:r>
            <a:endParaRPr lang="en-US" sz="1200" dirty="0"/>
          </a:p>
          <a:p>
            <a:pPr marL="342900" indent="-342900">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Cargas abandonadas limpiadas</a:t>
            </a:r>
            <a:endParaRPr lang="en-US" sz="1200" dirty="0"/>
          </a:p>
          <a:p>
            <a:pPr marL="342900" indent="-342900">
              <a:spcAft>
                <a:spcPts val="600"/>
              </a:spcAft>
              <a:buSzPct val="100000"/>
              <a:buChar char="•"/>
            </a:pPr>
            <a:r>
              <a:rPr lang="en-US" sz="1200" dirty="0">
                <a:solidFill>
                  <a:srgbClr val="1F2A24"/>
                </a:solidFill>
                <a:latin typeface="Calibri" pitchFamily="34" charset="0"/>
                <a:ea typeface="Calibri" pitchFamily="34" charset="-122"/>
                <a:cs typeface="Calibri" pitchFamily="34" charset="-120"/>
              </a:rPr>
              <a:t>Archivo límite de 20 MP: pico de 145 MiB</a:t>
            </a:r>
            <a:endParaRPr lang="en-US" sz="1200" dirty="0"/>
          </a:p>
        </p:txBody>
      </p:sp>
      <p:sp>
        <p:nvSpPr>
          <p:cNvPr id="22" name="Text 15"/>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Feedback de E1 y cómo respondimos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Corrección de E1 (6,4): cada observación y dónde se responde</a:t>
            </a:r>
            <a:endParaRPr lang="en-US" sz="1300" dirty="0"/>
          </a:p>
        </p:txBody>
      </p:sp>
      <p:sp>
        <p:nvSpPr>
          <p:cNvPr id="26" name="Text 18"/>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4</a:t>
            </a:r>
            <a:endParaRPr lang="en-US" sz="900" dirty="0"/>
          </a:p>
        </p:txBody>
      </p:sp>
      <p:sp>
        <p:nvSpPr>
          <p:cNvPr id="4" name="Shape 2"/>
          <p:cNvSpPr/>
          <p:nvPr/>
        </p:nvSpPr>
        <p:spPr>
          <a:xfrm>
            <a:off x="457200" y="1271016"/>
            <a:ext cx="3931920" cy="566928"/>
          </a:xfrm>
          <a:prstGeom prst="roundRect">
            <a:avLst>
              <a:gd name="adj" fmla="val 8889"/>
            </a:avLst>
          </a:prstGeom>
          <a:solidFill>
            <a:srgbClr val="FBEAE5"/>
          </a:solidFill>
          <a:ln w="12700">
            <a:solidFill>
              <a:srgbClr val="FBEAE5"/>
            </a:solidFill>
            <a:prstDash val="solid"/>
          </a:ln>
        </p:spPr>
        <p:txBody>
          <a:bodyPr/>
          <a:p/>
        </p:txBody>
      </p:sp>
      <p:sp>
        <p:nvSpPr>
          <p:cNvPr id="5" name="Shape 3"/>
          <p:cNvSpPr/>
          <p:nvPr/>
        </p:nvSpPr>
        <p:spPr>
          <a:xfrm>
            <a:off x="548640" y="1371600"/>
            <a:ext cx="365760" cy="365760"/>
          </a:xfrm>
          <a:prstGeom prst="ellipse">
            <a:avLst/>
          </a:prstGeom>
          <a:solidFill>
            <a:srgbClr val="D9512C"/>
          </a:solidFill>
          <a:ln w="12700">
            <a:solidFill>
              <a:srgbClr val="D9512C"/>
            </a:solidFill>
            <a:prstDash val="solid"/>
          </a:ln>
        </p:spPr>
        <p:txBody>
          <a:bodyPr/>
          <a:p/>
        </p:txBody>
      </p:sp>
      <p:pic>
        <p:nvPicPr>
          <p:cNvPr id="6" name="Image 0" descr="preencoded.png">    </p:cNvPr>
          <p:cNvPicPr>
            <a:picLocks noChangeAspect="1"/>
          </p:cNvPicPr>
          <p:nvPr/>
        </p:nvPicPr>
        <p:blipFill>
          <a:blip r:embed="rId1"/>
          <a:stretch>
            <a:fillRect/>
          </a:stretch>
        </p:blipFill>
        <p:spPr>
          <a:xfrm>
            <a:off x="630936" y="1453896"/>
            <a:ext cx="201168" cy="201168"/>
          </a:xfrm>
          <a:prstGeom prst="rect">
            <a:avLst/>
          </a:prstGeom>
        </p:spPr>
      </p:pic>
      <p:sp>
        <p:nvSpPr>
          <p:cNvPr id="7" name="Text 4"/>
          <p:cNvSpPr txBox="1"/>
          <p:nvPr/>
        </p:nvSpPr>
        <p:spPr>
          <a:xfrm>
            <a:off x="1005840" y="1298448"/>
            <a:ext cx="3291840" cy="512064"/>
          </a:xfrm>
          <a:prstGeom prst="rect">
            <a:avLst/>
          </a:prstGeom>
          <a:noFill/>
          <a:ln/>
        </p:spPr>
        <p:txBody>
          <a:bodyPr wrap="square" lIns="0" tIns="0" rIns="0" bIns="0" rtlCol="0" anchor="ctr"/>
          <a:lstStyle/>
          <a:p>
            <a:pPr indent="0" marL="0">
              <a:buNone/>
            </a:pPr>
            <a:r>
              <a:rPr lang="en-US" sz="1150" dirty="0" b="1">
                <a:solidFill>
                  <a:srgbClr val="1E4D3A"/>
                </a:solidFill>
                <a:latin typeface="Calibri" pitchFamily="34" charset="0"/>
                <a:ea typeface="Calibri" pitchFamily="34" charset="-122"/>
                <a:cs typeface="Calibri" pitchFamily="34" charset="-120"/>
              </a:rPr>
              <a:t>Restricciones · 0/1</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No incluyeron sección de restricciones (presupuesto, semestre).</a:t>
            </a:r>
            <a:endParaRPr lang="en-US" sz="1300" dirty="0"/>
          </a:p>
        </p:txBody>
      </p:sp>
      <p:pic>
        <p:nvPicPr>
          <p:cNvPr id="8" name="Image 1" descr="preencoded.png">    </p:cNvPr>
          <p:cNvPicPr>
            <a:picLocks noChangeAspect="1"/>
          </p:cNvPicPr>
          <p:nvPr/>
        </p:nvPicPr>
        <p:blipFill>
          <a:blip r:embed="rId2"/>
          <a:stretch>
            <a:fillRect/>
          </a:stretch>
        </p:blipFill>
        <p:spPr>
          <a:xfrm>
            <a:off x="4526280" y="1417320"/>
            <a:ext cx="274320" cy="274320"/>
          </a:xfrm>
          <a:prstGeom prst="rect">
            <a:avLst/>
          </a:prstGeom>
        </p:spPr>
      </p:pic>
      <p:sp>
        <p:nvSpPr>
          <p:cNvPr id="9" name="Shape 5"/>
          <p:cNvSpPr/>
          <p:nvPr/>
        </p:nvSpPr>
        <p:spPr>
          <a:xfrm>
            <a:off x="4937760" y="1271016"/>
            <a:ext cx="3749040" cy="566928"/>
          </a:xfrm>
          <a:prstGeom prst="roundRect">
            <a:avLst>
              <a:gd name="adj" fmla="val 8889"/>
            </a:avLst>
          </a:prstGeom>
          <a:solidFill>
            <a:srgbClr val="E9F2EC"/>
          </a:solidFill>
          <a:ln w="12700">
            <a:solidFill>
              <a:srgbClr val="E9F2EC"/>
            </a:solidFill>
            <a:prstDash val="solid"/>
          </a:ln>
        </p:spPr>
        <p:txBody>
          <a:bodyPr/>
          <a:p/>
        </p:txBody>
      </p:sp>
      <p:sp>
        <p:nvSpPr>
          <p:cNvPr id="10" name="Text 6"/>
          <p:cNvSpPr txBox="1"/>
          <p:nvPr/>
        </p:nvSpPr>
        <p:spPr>
          <a:xfrm>
            <a:off x="5074920" y="1298448"/>
            <a:ext cx="3474720" cy="512064"/>
          </a:xfrm>
          <a:prstGeom prst="rect">
            <a:avLst/>
          </a:prstGeom>
          <a:noFill/>
          <a:ln/>
        </p:spPr>
        <p:txBody>
          <a:bodyPr wrap="square" lIns="0" tIns="0" rIns="0" bIns="0" rtlCol="0" anchor="ctr"/>
          <a:lstStyle/>
          <a:p>
            <a:pPr indent="0" marL="0">
              <a:buNone/>
            </a:pPr>
            <a:r>
              <a:rPr lang="en-US" sz="1050" i="1" dirty="0" b="0">
                <a:solidFill>
                  <a:srgbClr val="1F2A24"/>
                </a:solidFill>
                <a:latin typeface="Calibri" pitchFamily="34" charset="0"/>
                <a:ea typeface="Calibri" pitchFamily="34" charset="-122"/>
                <a:cs typeface="Calibri" pitchFamily="34" charset="-120"/>
              </a:rPr>
              <a:t>Nueva lámina 13: presupuesto, plazo, capacidad, datos personales, sanidad y operación.</a:t>
            </a:r>
            <a:endParaRPr lang="en-US" sz="1300" dirty="0"/>
          </a:p>
        </p:txBody>
      </p:sp>
      <p:sp>
        <p:nvSpPr>
          <p:cNvPr id="4" name="Shape 2"/>
          <p:cNvSpPr/>
          <p:nvPr/>
        </p:nvSpPr>
        <p:spPr>
          <a:xfrm>
            <a:off x="457200" y="1920240"/>
            <a:ext cx="3931920" cy="566928"/>
          </a:xfrm>
          <a:prstGeom prst="roundRect">
            <a:avLst>
              <a:gd name="adj" fmla="val 8889"/>
            </a:avLst>
          </a:prstGeom>
          <a:solidFill>
            <a:srgbClr val="FBEAE5"/>
          </a:solidFill>
          <a:ln w="12700">
            <a:solidFill>
              <a:srgbClr val="FBEAE5"/>
            </a:solidFill>
            <a:prstDash val="solid"/>
          </a:ln>
        </p:spPr>
        <p:txBody>
          <a:bodyPr/>
          <a:p/>
        </p:txBody>
      </p:sp>
      <p:sp>
        <p:nvSpPr>
          <p:cNvPr id="5" name="Shape 3"/>
          <p:cNvSpPr/>
          <p:nvPr/>
        </p:nvSpPr>
        <p:spPr>
          <a:xfrm>
            <a:off x="548640" y="2020824"/>
            <a:ext cx="365760" cy="365760"/>
          </a:xfrm>
          <a:prstGeom prst="ellipse">
            <a:avLst/>
          </a:prstGeom>
          <a:solidFill>
            <a:srgbClr val="D9512C"/>
          </a:solidFill>
          <a:ln w="12700">
            <a:solidFill>
              <a:srgbClr val="D9512C"/>
            </a:solidFill>
            <a:prstDash val="solid"/>
          </a:ln>
        </p:spPr>
        <p:txBody>
          <a:bodyPr/>
          <a:p/>
        </p:txBody>
      </p:sp>
      <p:pic>
        <p:nvPicPr>
          <p:cNvPr id="6" name="Image 0" descr="preencoded.png">    </p:cNvPr>
          <p:cNvPicPr>
            <a:picLocks noChangeAspect="1"/>
          </p:cNvPicPr>
          <p:nvPr/>
        </p:nvPicPr>
        <p:blipFill>
          <a:blip r:embed="rId1"/>
          <a:stretch>
            <a:fillRect/>
          </a:stretch>
        </p:blipFill>
        <p:spPr>
          <a:xfrm>
            <a:off x="630936" y="2103120"/>
            <a:ext cx="201168" cy="201168"/>
          </a:xfrm>
          <a:prstGeom prst="rect">
            <a:avLst/>
          </a:prstGeom>
        </p:spPr>
      </p:pic>
      <p:sp>
        <p:nvSpPr>
          <p:cNvPr id="7" name="Text 4"/>
          <p:cNvSpPr txBox="1"/>
          <p:nvPr/>
        </p:nvSpPr>
        <p:spPr>
          <a:xfrm>
            <a:off x="1005840" y="1947672"/>
            <a:ext cx="3291840" cy="512064"/>
          </a:xfrm>
          <a:prstGeom prst="rect">
            <a:avLst/>
          </a:prstGeom>
          <a:noFill/>
          <a:ln/>
        </p:spPr>
        <p:txBody>
          <a:bodyPr wrap="square" lIns="0" tIns="0" rIns="0" bIns="0" rtlCol="0" anchor="ctr"/>
          <a:lstStyle/>
          <a:p>
            <a:pPr indent="0" marL="0">
              <a:buNone/>
            </a:pPr>
            <a:r>
              <a:rPr lang="en-US" sz="1150" dirty="0" b="1">
                <a:solidFill>
                  <a:srgbClr val="1E4D3A"/>
                </a:solidFill>
                <a:latin typeface="Calibri" pitchFamily="34" charset="0"/>
                <a:ea typeface="Calibri" pitchFamily="34" charset="-122"/>
                <a:cs typeface="Calibri" pitchFamily="34" charset="-120"/>
              </a:rPr>
              <a:t>Riesgos · 1/1</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Evaluar probabilidad e impacto por separado.</a:t>
            </a:r>
            <a:endParaRPr lang="en-US" sz="1300" dirty="0"/>
          </a:p>
        </p:txBody>
      </p:sp>
      <p:pic>
        <p:nvPicPr>
          <p:cNvPr id="8" name="Image 1" descr="preencoded.png">    </p:cNvPr>
          <p:cNvPicPr>
            <a:picLocks noChangeAspect="1"/>
          </p:cNvPicPr>
          <p:nvPr/>
        </p:nvPicPr>
        <p:blipFill>
          <a:blip r:embed="rId2"/>
          <a:stretch>
            <a:fillRect/>
          </a:stretch>
        </p:blipFill>
        <p:spPr>
          <a:xfrm>
            <a:off x="4526280" y="2066544"/>
            <a:ext cx="274320" cy="274320"/>
          </a:xfrm>
          <a:prstGeom prst="rect">
            <a:avLst/>
          </a:prstGeom>
        </p:spPr>
      </p:pic>
      <p:sp>
        <p:nvSpPr>
          <p:cNvPr id="9" name="Shape 5"/>
          <p:cNvSpPr/>
          <p:nvPr/>
        </p:nvSpPr>
        <p:spPr>
          <a:xfrm>
            <a:off x="4937760" y="1920240"/>
            <a:ext cx="3749040" cy="566928"/>
          </a:xfrm>
          <a:prstGeom prst="roundRect">
            <a:avLst>
              <a:gd name="adj" fmla="val 8889"/>
            </a:avLst>
          </a:prstGeom>
          <a:solidFill>
            <a:srgbClr val="E9F2EC"/>
          </a:solidFill>
          <a:ln w="12700">
            <a:solidFill>
              <a:srgbClr val="E9F2EC"/>
            </a:solidFill>
            <a:prstDash val="solid"/>
          </a:ln>
        </p:spPr>
        <p:txBody>
          <a:bodyPr/>
          <a:p/>
        </p:txBody>
      </p:sp>
      <p:sp>
        <p:nvSpPr>
          <p:cNvPr id="10" name="Text 6"/>
          <p:cNvSpPr txBox="1"/>
          <p:nvPr/>
        </p:nvSpPr>
        <p:spPr>
          <a:xfrm>
            <a:off x="5074920" y="1947672"/>
            <a:ext cx="3474720" cy="512064"/>
          </a:xfrm>
          <a:prstGeom prst="rect">
            <a:avLst/>
          </a:prstGeom>
          <a:noFill/>
          <a:ln/>
        </p:spPr>
        <p:txBody>
          <a:bodyPr wrap="square" lIns="0" tIns="0" rIns="0" bIns="0" rtlCol="0" anchor="ctr"/>
          <a:lstStyle/>
          <a:p>
            <a:pPr indent="0" marL="0">
              <a:buNone/>
            </a:pPr>
            <a:r>
              <a:rPr lang="en-US" sz="1050" i="1" dirty="0" b="0">
                <a:solidFill>
                  <a:srgbClr val="1F2A24"/>
                </a:solidFill>
                <a:latin typeface="Calibri" pitchFamily="34" charset="0"/>
                <a:ea typeface="Calibri" pitchFamily="34" charset="-122"/>
                <a:cs typeface="Calibri" pitchFamily="34" charset="-120"/>
              </a:rPr>
              <a:t>Lámina 14: columnas separadas y evidencia de S01–S03.</a:t>
            </a:r>
            <a:endParaRPr lang="en-US" sz="1300" dirty="0"/>
          </a:p>
        </p:txBody>
      </p:sp>
      <p:sp>
        <p:nvSpPr>
          <p:cNvPr id="4" name="Shape 2"/>
          <p:cNvSpPr/>
          <p:nvPr/>
        </p:nvSpPr>
        <p:spPr>
          <a:xfrm>
            <a:off x="457200" y="2569464"/>
            <a:ext cx="3931920" cy="566928"/>
          </a:xfrm>
          <a:prstGeom prst="roundRect">
            <a:avLst>
              <a:gd name="adj" fmla="val 8889"/>
            </a:avLst>
          </a:prstGeom>
          <a:solidFill>
            <a:srgbClr val="FBEAE5"/>
          </a:solidFill>
          <a:ln w="12700">
            <a:solidFill>
              <a:srgbClr val="FBEAE5"/>
            </a:solidFill>
            <a:prstDash val="solid"/>
          </a:ln>
        </p:spPr>
        <p:txBody>
          <a:bodyPr/>
          <a:p/>
        </p:txBody>
      </p:sp>
      <p:sp>
        <p:nvSpPr>
          <p:cNvPr id="5" name="Shape 3"/>
          <p:cNvSpPr/>
          <p:nvPr/>
        </p:nvSpPr>
        <p:spPr>
          <a:xfrm>
            <a:off x="548640" y="2670048"/>
            <a:ext cx="365760" cy="365760"/>
          </a:xfrm>
          <a:prstGeom prst="ellipse">
            <a:avLst/>
          </a:prstGeom>
          <a:solidFill>
            <a:srgbClr val="D9512C"/>
          </a:solidFill>
          <a:ln w="12700">
            <a:solidFill>
              <a:srgbClr val="D9512C"/>
            </a:solidFill>
            <a:prstDash val="solid"/>
          </a:ln>
        </p:spPr>
        <p:txBody>
          <a:bodyPr/>
          <a:p/>
        </p:txBody>
      </p:sp>
      <p:pic>
        <p:nvPicPr>
          <p:cNvPr id="6" name="Image 0" descr="preencoded.png">    </p:cNvPr>
          <p:cNvPicPr>
            <a:picLocks noChangeAspect="1"/>
          </p:cNvPicPr>
          <p:nvPr/>
        </p:nvPicPr>
        <p:blipFill>
          <a:blip r:embed="rId1"/>
          <a:stretch>
            <a:fillRect/>
          </a:stretch>
        </p:blipFill>
        <p:spPr>
          <a:xfrm>
            <a:off x="630936" y="2752344"/>
            <a:ext cx="201168" cy="201168"/>
          </a:xfrm>
          <a:prstGeom prst="rect">
            <a:avLst/>
          </a:prstGeom>
        </p:spPr>
      </p:pic>
      <p:sp>
        <p:nvSpPr>
          <p:cNvPr id="7" name="Text 4"/>
          <p:cNvSpPr txBox="1"/>
          <p:nvPr/>
        </p:nvSpPr>
        <p:spPr>
          <a:xfrm>
            <a:off x="1005840" y="2596896"/>
            <a:ext cx="3291840" cy="512064"/>
          </a:xfrm>
          <a:prstGeom prst="rect">
            <a:avLst/>
          </a:prstGeom>
          <a:noFill/>
          <a:ln/>
        </p:spPr>
        <p:txBody>
          <a:bodyPr wrap="square" lIns="0" tIns="0" rIns="0" bIns="0" rtlCol="0" anchor="ctr"/>
          <a:lstStyle/>
          <a:p>
            <a:pPr indent="0" marL="0">
              <a:buNone/>
            </a:pPr>
            <a:r>
              <a:rPr lang="en-US" sz="1150" dirty="0" b="1">
                <a:solidFill>
                  <a:srgbClr val="1E4D3A"/>
                </a:solidFill>
                <a:latin typeface="Calibri" pitchFamily="34" charset="0"/>
                <a:ea typeface="Calibri" pitchFamily="34" charset="-122"/>
                <a:cs typeface="Calibri" pitchFamily="34" charset="-120"/>
              </a:rPr>
              <a:t>Arquitectura · 1/1</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¿Se incluirán imágenes de los paquetes?</a:t>
            </a:r>
            <a:endParaRPr lang="en-US" sz="1300" dirty="0"/>
          </a:p>
        </p:txBody>
      </p:sp>
      <p:pic>
        <p:nvPicPr>
          <p:cNvPr id="8" name="Image 1" descr="preencoded.png">    </p:cNvPr>
          <p:cNvPicPr>
            <a:picLocks noChangeAspect="1"/>
          </p:cNvPicPr>
          <p:nvPr/>
        </p:nvPicPr>
        <p:blipFill>
          <a:blip r:embed="rId2"/>
          <a:stretch>
            <a:fillRect/>
          </a:stretch>
        </p:blipFill>
        <p:spPr>
          <a:xfrm>
            <a:off x="4526280" y="2715768"/>
            <a:ext cx="274320" cy="274320"/>
          </a:xfrm>
          <a:prstGeom prst="rect">
            <a:avLst/>
          </a:prstGeom>
        </p:spPr>
      </p:pic>
      <p:sp>
        <p:nvSpPr>
          <p:cNvPr id="9" name="Shape 5"/>
          <p:cNvSpPr/>
          <p:nvPr/>
        </p:nvSpPr>
        <p:spPr>
          <a:xfrm>
            <a:off x="4937760" y="2569464"/>
            <a:ext cx="3749040" cy="566928"/>
          </a:xfrm>
          <a:prstGeom prst="roundRect">
            <a:avLst>
              <a:gd name="adj" fmla="val 8889"/>
            </a:avLst>
          </a:prstGeom>
          <a:solidFill>
            <a:srgbClr val="E9F2EC"/>
          </a:solidFill>
          <a:ln w="12700">
            <a:solidFill>
              <a:srgbClr val="E9F2EC"/>
            </a:solidFill>
            <a:prstDash val="solid"/>
          </a:ln>
        </p:spPr>
        <p:txBody>
          <a:bodyPr/>
          <a:p/>
        </p:txBody>
      </p:sp>
      <p:sp>
        <p:nvSpPr>
          <p:cNvPr id="10" name="Text 6"/>
          <p:cNvSpPr txBox="1"/>
          <p:nvPr/>
        </p:nvSpPr>
        <p:spPr>
          <a:xfrm>
            <a:off x="5074920" y="2596896"/>
            <a:ext cx="3474720" cy="512064"/>
          </a:xfrm>
          <a:prstGeom prst="rect">
            <a:avLst/>
          </a:prstGeom>
          <a:noFill/>
          <a:ln/>
        </p:spPr>
        <p:txBody>
          <a:bodyPr wrap="square" lIns="0" tIns="0" rIns="0" bIns="0" rtlCol="0" anchor="ctr"/>
          <a:lstStyle/>
          <a:p>
            <a:pPr indent="0" marL="0">
              <a:buNone/>
            </a:pPr>
            <a:r>
              <a:rPr lang="en-US" sz="1050" i="1" dirty="0" b="0">
                <a:solidFill>
                  <a:srgbClr val="1F2A24"/>
                </a:solidFill>
                <a:latin typeface="Calibri" pitchFamily="34" charset="0"/>
                <a:ea typeface="Calibri" pitchFamily="34" charset="-122"/>
                <a:cs typeface="Calibri" pitchFamily="34" charset="-120"/>
              </a:rPr>
              <a:t>Sí: hasta 3 fotos por lote, validadas por el worker en B2 privado (K014, ADR 0005, lámina 15).</a:t>
            </a:r>
            <a:endParaRPr lang="en-US" sz="1300" dirty="0"/>
          </a:p>
        </p:txBody>
      </p:sp>
      <p:sp>
        <p:nvSpPr>
          <p:cNvPr id="4" name="Shape 2"/>
          <p:cNvSpPr/>
          <p:nvPr/>
        </p:nvSpPr>
        <p:spPr>
          <a:xfrm>
            <a:off x="457200" y="3218688"/>
            <a:ext cx="3931920" cy="566928"/>
          </a:xfrm>
          <a:prstGeom prst="roundRect">
            <a:avLst>
              <a:gd name="adj" fmla="val 8889"/>
            </a:avLst>
          </a:prstGeom>
          <a:solidFill>
            <a:srgbClr val="FBEAE5"/>
          </a:solidFill>
          <a:ln w="12700">
            <a:solidFill>
              <a:srgbClr val="FBEAE5"/>
            </a:solidFill>
            <a:prstDash val="solid"/>
          </a:ln>
        </p:spPr>
        <p:txBody>
          <a:bodyPr/>
          <a:p/>
        </p:txBody>
      </p:sp>
      <p:sp>
        <p:nvSpPr>
          <p:cNvPr id="5" name="Shape 3"/>
          <p:cNvSpPr/>
          <p:nvPr/>
        </p:nvSpPr>
        <p:spPr>
          <a:xfrm>
            <a:off x="548640" y="3319272"/>
            <a:ext cx="365760" cy="365760"/>
          </a:xfrm>
          <a:prstGeom prst="ellipse">
            <a:avLst/>
          </a:prstGeom>
          <a:solidFill>
            <a:srgbClr val="D9512C"/>
          </a:solidFill>
          <a:ln w="12700">
            <a:solidFill>
              <a:srgbClr val="D9512C"/>
            </a:solidFill>
            <a:prstDash val="solid"/>
          </a:ln>
        </p:spPr>
        <p:txBody>
          <a:bodyPr/>
          <a:p/>
        </p:txBody>
      </p:sp>
      <p:pic>
        <p:nvPicPr>
          <p:cNvPr id="6" name="Image 0" descr="preencoded.png">    </p:cNvPr>
          <p:cNvPicPr>
            <a:picLocks noChangeAspect="1"/>
          </p:cNvPicPr>
          <p:nvPr/>
        </p:nvPicPr>
        <p:blipFill>
          <a:blip r:embed="rId1"/>
          <a:stretch>
            <a:fillRect/>
          </a:stretch>
        </p:blipFill>
        <p:spPr>
          <a:xfrm>
            <a:off x="630936" y="3401568"/>
            <a:ext cx="201168" cy="201168"/>
          </a:xfrm>
          <a:prstGeom prst="rect">
            <a:avLst/>
          </a:prstGeom>
        </p:spPr>
      </p:pic>
      <p:sp>
        <p:nvSpPr>
          <p:cNvPr id="7" name="Text 4"/>
          <p:cNvSpPr txBox="1"/>
          <p:nvPr/>
        </p:nvSpPr>
        <p:spPr>
          <a:xfrm>
            <a:off x="1005840" y="3246120"/>
            <a:ext cx="3291840" cy="512064"/>
          </a:xfrm>
          <a:prstGeom prst="rect">
            <a:avLst/>
          </a:prstGeom>
          <a:noFill/>
          <a:ln/>
        </p:spPr>
        <p:txBody>
          <a:bodyPr wrap="square" lIns="0" tIns="0" rIns="0" bIns="0" rtlCol="0" anchor="ctr"/>
          <a:lstStyle/>
          <a:p>
            <a:pPr indent="0" marL="0">
              <a:buNone/>
            </a:pPr>
            <a:r>
              <a:rPr lang="en-US" sz="1150" dirty="0" b="1">
                <a:solidFill>
                  <a:srgbClr val="1E4D3A"/>
                </a:solidFill>
                <a:latin typeface="Calibri" pitchFamily="34" charset="0"/>
                <a:ea typeface="Calibri" pitchFamily="34" charset="-122"/>
                <a:cs typeface="Calibri" pitchFamily="34" charset="-120"/>
              </a:rPr>
              <a:t>Valor de negocio · 0,75</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¿Con qué métrica concreta sabrán si el piloto facilita la operación?</a:t>
            </a:r>
            <a:endParaRPr lang="en-US" sz="1300" dirty="0"/>
          </a:p>
        </p:txBody>
      </p:sp>
      <p:pic>
        <p:nvPicPr>
          <p:cNvPr id="8" name="Image 1" descr="preencoded.png">    </p:cNvPr>
          <p:cNvPicPr>
            <a:picLocks noChangeAspect="1"/>
          </p:cNvPicPr>
          <p:nvPr/>
        </p:nvPicPr>
        <p:blipFill>
          <a:blip r:embed="rId2"/>
          <a:stretch>
            <a:fillRect/>
          </a:stretch>
        </p:blipFill>
        <p:spPr>
          <a:xfrm>
            <a:off x="4526280" y="3364992"/>
            <a:ext cx="274320" cy="274320"/>
          </a:xfrm>
          <a:prstGeom prst="rect">
            <a:avLst/>
          </a:prstGeom>
        </p:spPr>
      </p:pic>
      <p:sp>
        <p:nvSpPr>
          <p:cNvPr id="9" name="Shape 5"/>
          <p:cNvSpPr/>
          <p:nvPr/>
        </p:nvSpPr>
        <p:spPr>
          <a:xfrm>
            <a:off x="4937760" y="3218688"/>
            <a:ext cx="3749040" cy="566928"/>
          </a:xfrm>
          <a:prstGeom prst="roundRect">
            <a:avLst>
              <a:gd name="adj" fmla="val 8889"/>
            </a:avLst>
          </a:prstGeom>
          <a:solidFill>
            <a:srgbClr val="E9F2EC"/>
          </a:solidFill>
          <a:ln w="12700">
            <a:solidFill>
              <a:srgbClr val="E9F2EC"/>
            </a:solidFill>
            <a:prstDash val="solid"/>
          </a:ln>
        </p:spPr>
        <p:txBody>
          <a:bodyPr/>
          <a:p/>
        </p:txBody>
      </p:sp>
      <p:sp>
        <p:nvSpPr>
          <p:cNvPr id="10" name="Text 6"/>
          <p:cNvSpPr txBox="1"/>
          <p:nvPr/>
        </p:nvSpPr>
        <p:spPr>
          <a:xfrm>
            <a:off x="5074920" y="3246120"/>
            <a:ext cx="3474720" cy="512064"/>
          </a:xfrm>
          <a:prstGeom prst="rect">
            <a:avLst/>
          </a:prstGeom>
          <a:noFill/>
          <a:ln/>
        </p:spPr>
        <p:txBody>
          <a:bodyPr wrap="square" lIns="0" tIns="0" rIns="0" bIns="0" rtlCol="0" anchor="ctr"/>
          <a:lstStyle/>
          <a:p>
            <a:pPr indent="0" marL="0">
              <a:buNone/>
            </a:pPr>
            <a:r>
              <a:rPr lang="en-US" sz="1050" i="1" dirty="0" b="0">
                <a:solidFill>
                  <a:srgbClr val="1F2A24"/>
                </a:solidFill>
                <a:latin typeface="Calibri" pitchFamily="34" charset="0"/>
                <a:ea typeface="Calibri" pitchFamily="34" charset="-122"/>
                <a:cs typeface="Calibri" pitchFamily="34" charset="-120"/>
              </a:rPr>
              <a:t>Packs retirados / publicados y reservas vencidas / confirmadas, por lote cerrado y semana.</a:t>
            </a:r>
            <a:endParaRPr lang="en-US" sz="1300" dirty="0"/>
          </a:p>
        </p:txBody>
      </p:sp>
      <p:sp>
        <p:nvSpPr>
          <p:cNvPr id="4" name="Shape 2"/>
          <p:cNvSpPr/>
          <p:nvPr/>
        </p:nvSpPr>
        <p:spPr>
          <a:xfrm>
            <a:off x="457200" y="3867912"/>
            <a:ext cx="3931920" cy="566928"/>
          </a:xfrm>
          <a:prstGeom prst="roundRect">
            <a:avLst>
              <a:gd name="adj" fmla="val 8889"/>
            </a:avLst>
          </a:prstGeom>
          <a:solidFill>
            <a:srgbClr val="FBEAE5"/>
          </a:solidFill>
          <a:ln w="12700">
            <a:solidFill>
              <a:srgbClr val="FBEAE5"/>
            </a:solidFill>
            <a:prstDash val="solid"/>
          </a:ln>
        </p:spPr>
        <p:txBody>
          <a:bodyPr/>
          <a:p/>
        </p:txBody>
      </p:sp>
      <p:sp>
        <p:nvSpPr>
          <p:cNvPr id="5" name="Shape 3"/>
          <p:cNvSpPr/>
          <p:nvPr/>
        </p:nvSpPr>
        <p:spPr>
          <a:xfrm>
            <a:off x="548640" y="3968496"/>
            <a:ext cx="365760" cy="365760"/>
          </a:xfrm>
          <a:prstGeom prst="ellipse">
            <a:avLst/>
          </a:prstGeom>
          <a:solidFill>
            <a:srgbClr val="D9512C"/>
          </a:solidFill>
          <a:ln w="12700">
            <a:solidFill>
              <a:srgbClr val="D9512C"/>
            </a:solidFill>
            <a:prstDash val="solid"/>
          </a:ln>
        </p:spPr>
        <p:txBody>
          <a:bodyPr/>
          <a:p/>
        </p:txBody>
      </p:sp>
      <p:pic>
        <p:nvPicPr>
          <p:cNvPr id="6" name="Image 0" descr="preencoded.png">    </p:cNvPr>
          <p:cNvPicPr>
            <a:picLocks noChangeAspect="1"/>
          </p:cNvPicPr>
          <p:nvPr/>
        </p:nvPicPr>
        <p:blipFill>
          <a:blip r:embed="rId1"/>
          <a:stretch>
            <a:fillRect/>
          </a:stretch>
        </p:blipFill>
        <p:spPr>
          <a:xfrm>
            <a:off x="630936" y="4050792"/>
            <a:ext cx="201168" cy="201168"/>
          </a:xfrm>
          <a:prstGeom prst="rect">
            <a:avLst/>
          </a:prstGeom>
        </p:spPr>
      </p:pic>
      <p:sp>
        <p:nvSpPr>
          <p:cNvPr id="7" name="Text 4"/>
          <p:cNvSpPr txBox="1"/>
          <p:nvPr/>
        </p:nvSpPr>
        <p:spPr>
          <a:xfrm>
            <a:off x="1005840" y="3895344"/>
            <a:ext cx="3291840" cy="512064"/>
          </a:xfrm>
          <a:prstGeom prst="rect">
            <a:avLst/>
          </a:prstGeom>
          <a:noFill/>
          <a:ln/>
        </p:spPr>
        <p:txBody>
          <a:bodyPr wrap="square" lIns="0" tIns="0" rIns="0" bIns="0" rtlCol="0" anchor="ctr"/>
          <a:lstStyle/>
          <a:p>
            <a:pPr indent="0" marL="0">
              <a:buNone/>
            </a:pPr>
            <a:r>
              <a:rPr lang="en-US" sz="1150" dirty="0" b="1">
                <a:solidFill>
                  <a:srgbClr val="1E4D3A"/>
                </a:solidFill>
                <a:latin typeface="Calibri" pitchFamily="34" charset="0"/>
                <a:ea typeface="Calibri" pitchFamily="34" charset="-122"/>
                <a:cs typeface="Calibri" pitchFamily="34" charset="-120"/>
              </a:rPr>
              <a:t>Modelo de proceso · 0,75</a:t>
            </a:r>
            <a:endParaRPr lang="en-US" sz="1300" dirty="0"/>
          </a:p>
          <a:p>
            <a:pPr indent="0" marL="0">
              <a:buNone/>
            </a:pPr>
            <a:r>
              <a:rPr lang="en-US" sz="1000" dirty="0" b="0">
                <a:solidFill>
                  <a:srgbClr val="1F2A24"/>
                </a:solidFill>
                <a:latin typeface="Calibri" pitchFamily="34" charset="0"/>
                <a:ea typeface="Calibri" pitchFamily="34" charset="-122"/>
                <a:cs typeface="Calibri" pitchFamily="34" charset="-120"/>
              </a:rPr>
              <a:t>Usar BPMN, más detallado y separado por publicador y rescatista.</a:t>
            </a:r>
            <a:endParaRPr lang="en-US" sz="1300" dirty="0"/>
          </a:p>
        </p:txBody>
      </p:sp>
      <p:pic>
        <p:nvPicPr>
          <p:cNvPr id="8" name="Image 1" descr="preencoded.png">    </p:cNvPr>
          <p:cNvPicPr>
            <a:picLocks noChangeAspect="1"/>
          </p:cNvPicPr>
          <p:nvPr/>
        </p:nvPicPr>
        <p:blipFill>
          <a:blip r:embed="rId2"/>
          <a:stretch>
            <a:fillRect/>
          </a:stretch>
        </p:blipFill>
        <p:spPr>
          <a:xfrm>
            <a:off x="4526280" y="4014216"/>
            <a:ext cx="274320" cy="274320"/>
          </a:xfrm>
          <a:prstGeom prst="rect">
            <a:avLst/>
          </a:prstGeom>
        </p:spPr>
      </p:pic>
      <p:sp>
        <p:nvSpPr>
          <p:cNvPr id="9" name="Shape 5"/>
          <p:cNvSpPr/>
          <p:nvPr/>
        </p:nvSpPr>
        <p:spPr>
          <a:xfrm>
            <a:off x="4937760" y="3867912"/>
            <a:ext cx="3749040" cy="566928"/>
          </a:xfrm>
          <a:prstGeom prst="roundRect">
            <a:avLst>
              <a:gd name="adj" fmla="val 8889"/>
            </a:avLst>
          </a:prstGeom>
          <a:solidFill>
            <a:srgbClr val="E9F2EC"/>
          </a:solidFill>
          <a:ln w="12700">
            <a:solidFill>
              <a:srgbClr val="E9F2EC"/>
            </a:solidFill>
            <a:prstDash val="solid"/>
          </a:ln>
        </p:spPr>
        <p:txBody>
          <a:bodyPr/>
          <a:p/>
        </p:txBody>
      </p:sp>
      <p:sp>
        <p:nvSpPr>
          <p:cNvPr id="10" name="Text 6"/>
          <p:cNvSpPr txBox="1"/>
          <p:nvPr/>
        </p:nvSpPr>
        <p:spPr>
          <a:xfrm>
            <a:off x="5074920" y="3895344"/>
            <a:ext cx="3474720" cy="512064"/>
          </a:xfrm>
          <a:prstGeom prst="rect">
            <a:avLst/>
          </a:prstGeom>
          <a:noFill/>
          <a:ln/>
        </p:spPr>
        <p:txBody>
          <a:bodyPr wrap="square" lIns="0" tIns="0" rIns="0" bIns="0" rtlCol="0" anchor="ctr"/>
          <a:lstStyle/>
          <a:p>
            <a:pPr indent="0" marL="0">
              <a:buNone/>
            </a:pPr>
            <a:r>
              <a:rPr lang="en-US" sz="1050" i="1" dirty="0" b="0">
                <a:solidFill>
                  <a:srgbClr val="1F2A24"/>
                </a:solidFill>
                <a:latin typeface="Calibri" pitchFamily="34" charset="0"/>
                <a:ea typeface="Calibri" pitchFamily="34" charset="-122"/>
                <a:cs typeface="Calibri" pitchFamily="34" charset="-120"/>
              </a:rPr>
              <a:t>Pendiente: BPMN por rol. No es parte de E2; se asigna en R03.</a:t>
            </a:r>
            <a:endParaRPr lang="en-US" sz="13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Restricciones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Faltaban en E1 (0/1): límites que no elegimos y cómo los respetamos</a:t>
            </a:r>
            <a:endParaRPr lang="en-US" sz="1300" dirty="0"/>
          </a:p>
        </p:txBody>
      </p:sp>
      <p:sp>
        <p:nvSpPr>
          <p:cNvPr id="5" name="Text 2"/>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520440"/>
        </p:xfrm>
        <a:graphic>
          <a:graphicData uri="http://schemas.openxmlformats.org/drawingml/2006/table">
            <a:tbl>
              <a:tblPr/>
              <a:tblGrid>
                <a:gridCol w="1920240"/>
                <a:gridCol w="2651760"/>
                <a:gridCol w="3657600"/>
              </a:tblGrid>
              <a:tr h="5029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Restricción</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Qué limita</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Cómo la respetamos</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r>
              <a:tr h="50292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Presupuesto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Sin presupuesto confirmado (E1).</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Proveedores elegidos por acceso y costo; B2 gratuito de 10 GB para fotos y retención a decidir antes del piloto.</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50292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Plazo del semestre</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11 semanas y entregas fijas: E2 04/10, E3 01/11, E4 22/11.</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Iteraciones semanales; cada entrega cierra un recorrido demostrable.</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50292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Capacidad del equipo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Límite de 5 a 6 h de proyecto por persona y semana (10 h del ramo menos clases y estudio).</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Tarjetas de 1 a 4 h con responsable y revisor distintos; carga revisada cada semana.</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50292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Datos personales (Ley 19.628)</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Correo, ubicación y fotos son datos personales.</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Solo correo en la cuenta, fotos sin EXIF en bucket privado, código de retiro fuera de URL y logs.</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50292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Inocuidad de alimentos</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La plataforma no puede verificar lo que se entrega.</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El establecimiento declara contenido y condiciones; los problemas posteriores van a incidencias (RF11).</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50292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Operación sin guardias</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Nadie opera el sistema 24/7.</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CD con healthcheck y smoke test; recuperación documentada en docs/despliegue.md.</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Riesgos actualizados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Probabilidad e impacto por separado, revisados con la evidencia de S01–S03</a:t>
            </a:r>
            <a:endParaRPr lang="en-US" sz="1300" dirty="0"/>
          </a:p>
        </p:txBody>
      </p:sp>
      <p:sp>
        <p:nvSpPr>
          <p:cNvPr id="5" name="Text 2"/>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14</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200400"/>
        </p:xfrm>
        <a:graphic>
          <a:graphicData uri="http://schemas.openxmlformats.org/drawingml/2006/table">
            <a:tbl>
              <a:tblPr/>
              <a:tblGrid>
                <a:gridCol w="2011680"/>
                <a:gridCol w="914400"/>
                <a:gridCol w="777240"/>
                <a:gridCol w="452628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Riesgo</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Probabilidad</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Impacto</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Evidencia y respuesta</a:t>
                      </a:r>
                      <a:endParaRPr lang="en-US" sz="11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1E4D3A"/>
                    </a:solidFill>
                  </a:tcPr>
                </a:tc>
              </a:tr>
              <a:tr h="45720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Alcance mayor que la capacidad</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B7791F"/>
                          </a:solidFill>
                          <a:latin typeface="Calibri" pitchFamily="34" charset="0"/>
                          <a:ea typeface="Calibri" pitchFamily="34" charset="-122"/>
                          <a:cs typeface="Calibri" pitchFamily="34" charset="-120"/>
                        </a:rPr>
                        <a:t>Media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D9512C"/>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La señal de E1 (sin reserva integrada en S2) no se activó; K017 sigue abierta y faltan horas reales.</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45720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Errores de inventario o tiempo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B7791F"/>
                          </a:solidFill>
                          <a:latin typeface="Calibri" pitchFamily="34" charset="0"/>
                          <a:ea typeface="Calibri" pitchFamily="34" charset="-122"/>
                          <a:cs typeface="Calibri" pitchFamily="34" charset="-120"/>
                        </a:rPr>
                        <a:t>Media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D9512C"/>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Reserva bajo bloqueo con pruebas de último pack. Cola FIFO, ofertas y vencimientos entran en S04–S05.</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45720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Alojamiento incompatible</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2F6B52"/>
                          </a:solidFill>
                          <a:latin typeface="Calibri" pitchFamily="34" charset="0"/>
                          <a:ea typeface="Calibri" pitchFamily="34" charset="-122"/>
                          <a:cs typeface="Calibri" pitchFamily="34" charset="-120"/>
                        </a:rPr>
                        <a:t>Baja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D9512C"/>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Railway y Vercel desplegados y verificados por CD; reemplazan a Render.</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45720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Capacidad de fotos (nuevo)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B7791F"/>
                          </a:solidFill>
                          <a:latin typeface="Calibri" pitchFamily="34" charset="0"/>
                          <a:ea typeface="Calibri" pitchFamily="34" charset="-122"/>
                          <a:cs typeface="Calibri" pitchFamily="34" charset="-120"/>
                        </a:rPr>
                        <a:t>Media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B7791F"/>
                          </a:solidFill>
                          <a:latin typeface="Calibri" pitchFamily="34" charset="0"/>
                          <a:ea typeface="Calibri" pitchFamily="34" charset="-122"/>
                          <a:cs typeface="Calibri" pitchFamily="34" charset="-120"/>
                        </a:rPr>
                        <a:t>Medio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B2 gratis da 10 GB; el escenario de E1 supone 18 GB. Sin fotos el resto del sitio funciona.</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45720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Acceso indebido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2F6B52"/>
                          </a:solidFill>
                          <a:latin typeface="Calibri" pitchFamily="34" charset="0"/>
                          <a:ea typeface="Calibri" pitchFamily="34" charset="-122"/>
                          <a:cs typeface="Calibri" pitchFamily="34" charset="-120"/>
                        </a:rPr>
                        <a:t>Baja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D9512C"/>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Membership por acción, CSRF firmado, Origin exacto y límites de tráfico; chat pendiente (S07).</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r h="457200">
                <a:tc>
                  <a:txBody>
                    <a:bodyPr/>
                    <a:lstStyle/>
                    <a:p>
                      <a:pPr indent="0" marL="0">
                        <a:buNone/>
                      </a:pPr>
                      <a:r>
                        <a:rPr lang="en-US" sz="1100" b="1" dirty="0">
                          <a:solidFill>
                            <a:srgbClr val="1F2A24"/>
                          </a:solidFill>
                          <a:latin typeface="Calibri" pitchFamily="34" charset="0"/>
                          <a:ea typeface="Calibri" pitchFamily="34" charset="-122"/>
                          <a:cs typeface="Calibri" pitchFamily="34" charset="-120"/>
                        </a:rPr>
                        <a:t>Datos físicos, oferta y demanda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B7791F"/>
                          </a:solidFill>
                          <a:latin typeface="Calibri" pitchFamily="34" charset="0"/>
                          <a:ea typeface="Calibri" pitchFamily="34" charset="-122"/>
                          <a:cs typeface="Calibri" pitchFamily="34" charset="-120"/>
                        </a:rPr>
                        <a:t>Media</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100" b="1" dirty="0">
                          <a:solidFill>
                            <a:srgbClr val="D9512C"/>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c>
                  <a:txBody>
                    <a:bodyPr/>
                    <a:lstStyle/>
                    <a:p>
                      <a:pPr indent="0" marL="0">
                        <a:buNone/>
                      </a:pPr>
                      <a:r>
                        <a:rPr lang="en-US" sz="1050" dirty="0">
                          <a:solidFill>
                            <a:srgbClr val="1F2A24"/>
                          </a:solidFill>
                          <a:latin typeface="Calibri" pitchFamily="34" charset="0"/>
                          <a:ea typeface="Calibri" pitchFamily="34" charset="-122"/>
                          <a:cs typeface="Calibri" pitchFamily="34" charset="-120"/>
                        </a:rPr>
                        <a:t>Sin cambio desde E1: dependen del piloto e incidencias (S08).</a:t>
                      </a:r>
                      <a:endParaRPr lang="en-US" sz="1050" dirty="0">
                        <a:latin typeface="Calibri" charset="0"/>
                        <a:ea typeface="Calibri" charset="0"/>
                        <a:cs typeface="Calibri" charset="0"/>
                      </a:endParaRPr>
                    </a:p>
                  </a:txBody>
                  <a:tcPr marL="54864" marR="54864" marT="54864" marB="54864">
                    <a:lnL w="6350" cap="flat" cmpd="sng" algn="ctr">
                      <a:solidFill>
                        <a:srgbClr val="C9D8CE"/>
                      </a:solidFill>
                      <a:prstDash val="solid"/>
                      <a:round/>
                      <a:headEnd type="none" w="med" len="med"/>
                      <a:tailEnd type="none" w="med" len="med"/>
                    </a:lnL>
                    <a:lnR w="6350" cap="flat" cmpd="sng" algn="ctr">
                      <a:solidFill>
                        <a:srgbClr val="C9D8CE"/>
                      </a:solidFill>
                      <a:prstDash val="solid"/>
                      <a:round/>
                      <a:headEnd type="none" w="med" len="med"/>
                      <a:tailEnd type="none" w="med" len="med"/>
                    </a:lnR>
                    <a:lnT w="6350" cap="flat" cmpd="sng" algn="ctr">
                      <a:solidFill>
                        <a:srgbClr val="C9D8CE"/>
                      </a:solidFill>
                      <a:prstDash val="solid"/>
                      <a:round/>
                      <a:headEnd type="none" w="med" len="med"/>
                      <a:tailEnd type="none" w="med" len="med"/>
                    </a:lnT>
                    <a:lnB w="6350" cap="flat" cmpd="sng" algn="ctr">
                      <a:solidFill>
                        <a:srgbClr val="C9D8CE"/>
                      </a:solidFill>
                      <a:prstDash val="solid"/>
                      <a:round/>
                      <a:headEnd type="none" w="med" len="med"/>
                      <a:tailEnd type="none" w="med" len="med"/>
                    </a:lnB>
                    <a:solidFill>
                      <a:srgbClr val="E9F2EC"/>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Walking Skeleton en producción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Recorrido real de punta a punta en rescate-rescate1.vercel.app, desplegado y verificado por CD</a:t>
            </a:r>
            <a:endParaRPr lang="en-US" sz="1300" dirty="0"/>
          </a:p>
        </p:txBody>
      </p:sp>
      <p:sp>
        <p:nvSpPr>
          <p:cNvPr id="4" name="Shape 2"/>
          <p:cNvSpPr/>
          <p:nvPr/>
        </p:nvSpPr>
        <p:spPr>
          <a:xfrm>
            <a:off x="822960" y="1371600"/>
            <a:ext cx="685800" cy="685800"/>
          </a:xfrm>
          <a:prstGeom prst="ellipse">
            <a:avLst/>
          </a:prstGeom>
          <a:solidFill>
            <a:srgbClr val="1E4D3A"/>
          </a:solidFill>
          <a:ln w="12700">
            <a:solidFill>
              <a:srgbClr val="1E4D3A"/>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87552" y="1536192"/>
            <a:ext cx="356616" cy="356616"/>
          </a:xfrm>
          <a:prstGeom prst="rect">
            <a:avLst/>
          </a:prstGeom>
        </p:spPr>
      </p:pic>
      <p:sp>
        <p:nvSpPr>
          <p:cNvPr id="6" name="Text 3"/>
          <p:cNvSpPr txBox="1"/>
          <p:nvPr/>
        </p:nvSpPr>
        <p:spPr>
          <a:xfrm>
            <a:off x="502920" y="2148840"/>
            <a:ext cx="1325880" cy="365760"/>
          </a:xfrm>
          <a:prstGeom prst="rect">
            <a:avLst/>
          </a:prstGeom>
          <a:noFill/>
          <a:ln/>
        </p:spPr>
        <p:txBody>
          <a:bodyPr wrap="square" lIns="0" tIns="0" rIns="0" bIns="0" rtlCol="0" anchor="ctr"/>
          <a:lstStyle/>
          <a:p>
            <a:pPr algn="ctr" indent="0" marL="0">
              <a:buNone/>
            </a:pPr>
            <a:r>
              <a:rPr lang="en-US" sz="1300" b="1" dirty="0">
                <a:solidFill>
                  <a:srgbClr val="1F2A24"/>
                </a:solidFill>
                <a:latin typeface="Calibri" pitchFamily="34" charset="0"/>
                <a:ea typeface="Calibri" pitchFamily="34" charset="-122"/>
                <a:cs typeface="Calibri" pitchFamily="34" charset="-120"/>
              </a:rPr>
              <a:t>Registro</a:t>
            </a:r>
            <a:endParaRPr lang="en-US" sz="1300" dirty="0"/>
          </a:p>
        </p:txBody>
      </p:sp>
      <p:pic>
        <p:nvPicPr>
          <p:cNvPr id="7" name="Image 1" descr="preencoded.png">    </p:cNvPr>
          <p:cNvPicPr>
            <a:picLocks noChangeAspect="1"/>
          </p:cNvPicPr>
          <p:nvPr/>
        </p:nvPicPr>
        <p:blipFill>
          <a:blip r:embed="rId2"/>
          <a:stretch>
            <a:fillRect/>
          </a:stretch>
        </p:blipFill>
        <p:spPr>
          <a:xfrm>
            <a:off x="1874520" y="1572768"/>
            <a:ext cx="274320" cy="274320"/>
          </a:xfrm>
          <a:prstGeom prst="rect">
            <a:avLst/>
          </a:prstGeom>
        </p:spPr>
      </p:pic>
      <p:sp>
        <p:nvSpPr>
          <p:cNvPr id="8" name="Shape 4"/>
          <p:cNvSpPr/>
          <p:nvPr/>
        </p:nvSpPr>
        <p:spPr>
          <a:xfrm>
            <a:off x="2514600" y="1371600"/>
            <a:ext cx="685800" cy="685800"/>
          </a:xfrm>
          <a:prstGeom prst="ellipse">
            <a:avLst/>
          </a:prstGeom>
          <a:solidFill>
            <a:srgbClr val="1E4D3A"/>
          </a:solidFill>
          <a:ln w="12700">
            <a:solidFill>
              <a:srgbClr val="1E4D3A"/>
            </a:solidFill>
            <a:prstDash val="solid"/>
          </a:ln>
        </p:spPr>
        <p:txBody>
          <a:bodyPr/>
          <a:p/>
        </p:txBody>
      </p:sp>
      <p:pic>
        <p:nvPicPr>
          <p:cNvPr id="9" name="Image 2" descr="preencoded.png">    </p:cNvPr>
          <p:cNvPicPr>
            <a:picLocks noChangeAspect="1"/>
          </p:cNvPicPr>
          <p:nvPr/>
        </p:nvPicPr>
        <p:blipFill>
          <a:blip r:embed="rId3"/>
          <a:stretch>
            <a:fillRect/>
          </a:stretch>
        </p:blipFill>
        <p:spPr>
          <a:xfrm>
            <a:off x="2679192" y="1536192"/>
            <a:ext cx="356616" cy="356616"/>
          </a:xfrm>
          <a:prstGeom prst="rect">
            <a:avLst/>
          </a:prstGeom>
        </p:spPr>
      </p:pic>
      <p:sp>
        <p:nvSpPr>
          <p:cNvPr id="10" name="Text 5"/>
          <p:cNvSpPr txBox="1"/>
          <p:nvPr/>
        </p:nvSpPr>
        <p:spPr>
          <a:xfrm>
            <a:off x="2194560" y="2148840"/>
            <a:ext cx="1325880" cy="365760"/>
          </a:xfrm>
          <a:prstGeom prst="rect">
            <a:avLst/>
          </a:prstGeom>
          <a:noFill/>
          <a:ln/>
        </p:spPr>
        <p:txBody>
          <a:bodyPr wrap="square" lIns="0" tIns="0" rIns="0" bIns="0" rtlCol="0" anchor="ctr"/>
          <a:lstStyle/>
          <a:p>
            <a:pPr algn="ctr" indent="0" marL="0">
              <a:buNone/>
            </a:pPr>
            <a:r>
              <a:rPr lang="en-US" sz="1300" b="1" dirty="0">
                <a:solidFill>
                  <a:srgbClr val="1F2A24"/>
                </a:solidFill>
                <a:latin typeface="Calibri" pitchFamily="34" charset="0"/>
                <a:ea typeface="Calibri" pitchFamily="34" charset="-122"/>
                <a:cs typeface="Calibri" pitchFamily="34" charset="-120"/>
              </a:rPr>
              <a:t>Login</a:t>
            </a:r>
            <a:endParaRPr lang="en-US" sz="1300" dirty="0"/>
          </a:p>
        </p:txBody>
      </p:sp>
      <p:pic>
        <p:nvPicPr>
          <p:cNvPr id="11" name="Image 3" descr="preencoded.png">    </p:cNvPr>
          <p:cNvPicPr>
            <a:picLocks noChangeAspect="1"/>
          </p:cNvPicPr>
          <p:nvPr/>
        </p:nvPicPr>
        <p:blipFill>
          <a:blip r:embed="rId4"/>
          <a:stretch>
            <a:fillRect/>
          </a:stretch>
        </p:blipFill>
        <p:spPr>
          <a:xfrm>
            <a:off x="3566160" y="1572768"/>
            <a:ext cx="274320" cy="274320"/>
          </a:xfrm>
          <a:prstGeom prst="rect">
            <a:avLst/>
          </a:prstGeom>
        </p:spPr>
      </p:pic>
      <p:sp>
        <p:nvSpPr>
          <p:cNvPr id="12" name="Shape 6"/>
          <p:cNvSpPr/>
          <p:nvPr/>
        </p:nvSpPr>
        <p:spPr>
          <a:xfrm>
            <a:off x="4206240" y="1371600"/>
            <a:ext cx="685800" cy="685800"/>
          </a:xfrm>
          <a:prstGeom prst="ellipse">
            <a:avLst/>
          </a:prstGeom>
          <a:solidFill>
            <a:srgbClr val="1E4D3A"/>
          </a:solidFill>
          <a:ln w="12700">
            <a:solidFill>
              <a:srgbClr val="1E4D3A"/>
            </a:solidFill>
            <a:prstDash val="solid"/>
          </a:ln>
        </p:spPr>
        <p:txBody>
          <a:bodyPr/>
          <a:p/>
        </p:txBody>
      </p:sp>
      <p:pic>
        <p:nvPicPr>
          <p:cNvPr id="13" name="Image 4" descr="preencoded.png">    </p:cNvPr>
          <p:cNvPicPr>
            <a:picLocks noChangeAspect="1"/>
          </p:cNvPicPr>
          <p:nvPr/>
        </p:nvPicPr>
        <p:blipFill>
          <a:blip r:embed="rId5"/>
          <a:stretch>
            <a:fillRect/>
          </a:stretch>
        </p:blipFill>
        <p:spPr>
          <a:xfrm>
            <a:off x="4370832" y="1536192"/>
            <a:ext cx="356616" cy="356616"/>
          </a:xfrm>
          <a:prstGeom prst="rect">
            <a:avLst/>
          </a:prstGeom>
        </p:spPr>
      </p:pic>
      <p:sp>
        <p:nvSpPr>
          <p:cNvPr id="14" name="Text 7"/>
          <p:cNvSpPr txBox="1"/>
          <p:nvPr/>
        </p:nvSpPr>
        <p:spPr>
          <a:xfrm>
            <a:off x="3886200" y="2148840"/>
            <a:ext cx="1325880" cy="365760"/>
          </a:xfrm>
          <a:prstGeom prst="rect">
            <a:avLst/>
          </a:prstGeom>
          <a:noFill/>
          <a:ln/>
        </p:spPr>
        <p:txBody>
          <a:bodyPr wrap="square" lIns="0" tIns="0" rIns="0" bIns="0" rtlCol="0" anchor="ctr"/>
          <a:lstStyle/>
          <a:p>
            <a:pPr algn="ctr" indent="0" marL="0">
              <a:buNone/>
            </a:pPr>
            <a:r>
              <a:rPr lang="en-US" sz="1300" b="1" dirty="0">
                <a:solidFill>
                  <a:srgbClr val="1F2A24"/>
                </a:solidFill>
                <a:latin typeface="Calibri" pitchFamily="34" charset="0"/>
                <a:ea typeface="Calibri" pitchFamily="34" charset="-122"/>
                <a:cs typeface="Calibri" pitchFamily="34" charset="-120"/>
              </a:rPr>
              <a:t>Publicar lote</a:t>
            </a:r>
            <a:endParaRPr lang="en-US" sz="1300" dirty="0"/>
          </a:p>
        </p:txBody>
      </p:sp>
      <p:pic>
        <p:nvPicPr>
          <p:cNvPr id="15" name="Image 5" descr="preencoded.png">    </p:cNvPr>
          <p:cNvPicPr>
            <a:picLocks noChangeAspect="1"/>
          </p:cNvPicPr>
          <p:nvPr/>
        </p:nvPicPr>
        <p:blipFill>
          <a:blip r:embed="rId6"/>
          <a:stretch>
            <a:fillRect/>
          </a:stretch>
        </p:blipFill>
        <p:spPr>
          <a:xfrm>
            <a:off x="5257800" y="1572768"/>
            <a:ext cx="274320" cy="274320"/>
          </a:xfrm>
          <a:prstGeom prst="rect">
            <a:avLst/>
          </a:prstGeom>
        </p:spPr>
      </p:pic>
      <p:sp>
        <p:nvSpPr>
          <p:cNvPr id="16" name="Shape 8"/>
          <p:cNvSpPr/>
          <p:nvPr/>
        </p:nvSpPr>
        <p:spPr>
          <a:xfrm>
            <a:off x="5897880" y="1371600"/>
            <a:ext cx="685800" cy="685800"/>
          </a:xfrm>
          <a:prstGeom prst="ellipse">
            <a:avLst/>
          </a:prstGeom>
          <a:solidFill>
            <a:srgbClr val="1E4D3A"/>
          </a:solidFill>
          <a:ln w="12700">
            <a:solidFill>
              <a:srgbClr val="1E4D3A"/>
            </a:solidFill>
            <a:prstDash val="solid"/>
          </a:ln>
        </p:spPr>
        <p:txBody>
          <a:bodyPr/>
          <a:p/>
        </p:txBody>
      </p:sp>
      <p:pic>
        <p:nvPicPr>
          <p:cNvPr id="17" name="Image 6" descr="preencoded.png">    </p:cNvPr>
          <p:cNvPicPr>
            <a:picLocks noChangeAspect="1"/>
          </p:cNvPicPr>
          <p:nvPr/>
        </p:nvPicPr>
        <p:blipFill>
          <a:blip r:embed="rId7"/>
          <a:stretch>
            <a:fillRect/>
          </a:stretch>
        </p:blipFill>
        <p:spPr>
          <a:xfrm>
            <a:off x="6062472" y="1536192"/>
            <a:ext cx="356616" cy="356616"/>
          </a:xfrm>
          <a:prstGeom prst="rect">
            <a:avLst/>
          </a:prstGeom>
        </p:spPr>
      </p:pic>
      <p:sp>
        <p:nvSpPr>
          <p:cNvPr id="18" name="Text 9"/>
          <p:cNvSpPr txBox="1"/>
          <p:nvPr/>
        </p:nvSpPr>
        <p:spPr>
          <a:xfrm>
            <a:off x="5577840" y="2148840"/>
            <a:ext cx="1325880" cy="365760"/>
          </a:xfrm>
          <a:prstGeom prst="rect">
            <a:avLst/>
          </a:prstGeom>
          <a:noFill/>
          <a:ln/>
        </p:spPr>
        <p:txBody>
          <a:bodyPr wrap="square" lIns="0" tIns="0" rIns="0" bIns="0" rtlCol="0" anchor="ctr"/>
          <a:lstStyle/>
          <a:p>
            <a:pPr algn="ctr" indent="0" marL="0">
              <a:buNone/>
            </a:pPr>
            <a:r>
              <a:rPr lang="en-US" sz="1300" b="1" dirty="0">
                <a:solidFill>
                  <a:srgbClr val="1F2A24"/>
                </a:solidFill>
                <a:latin typeface="Calibri" pitchFamily="34" charset="0"/>
                <a:ea typeface="Calibri" pitchFamily="34" charset="-122"/>
                <a:cs typeface="Calibri" pitchFamily="34" charset="-120"/>
              </a:rPr>
              <a:t>Buscar cerca</a:t>
            </a:r>
            <a:endParaRPr lang="en-US" sz="1300" dirty="0"/>
          </a:p>
        </p:txBody>
      </p:sp>
      <p:pic>
        <p:nvPicPr>
          <p:cNvPr id="19" name="Image 7" descr="preencoded.png">    </p:cNvPr>
          <p:cNvPicPr>
            <a:picLocks noChangeAspect="1"/>
          </p:cNvPicPr>
          <p:nvPr/>
        </p:nvPicPr>
        <p:blipFill>
          <a:blip r:embed="rId8"/>
          <a:stretch>
            <a:fillRect/>
          </a:stretch>
        </p:blipFill>
        <p:spPr>
          <a:xfrm>
            <a:off x="6949440" y="1572768"/>
            <a:ext cx="274320" cy="274320"/>
          </a:xfrm>
          <a:prstGeom prst="rect">
            <a:avLst/>
          </a:prstGeom>
        </p:spPr>
      </p:pic>
      <p:sp>
        <p:nvSpPr>
          <p:cNvPr id="20" name="Shape 10"/>
          <p:cNvSpPr/>
          <p:nvPr/>
        </p:nvSpPr>
        <p:spPr>
          <a:xfrm>
            <a:off x="7589520" y="1371600"/>
            <a:ext cx="685800" cy="685800"/>
          </a:xfrm>
          <a:prstGeom prst="ellipse">
            <a:avLst/>
          </a:prstGeom>
          <a:solidFill>
            <a:srgbClr val="1E4D3A"/>
          </a:solidFill>
          <a:ln w="12700">
            <a:solidFill>
              <a:srgbClr val="1E4D3A"/>
            </a:solidFill>
            <a:prstDash val="solid"/>
          </a:ln>
        </p:spPr>
        <p:txBody>
          <a:bodyPr/>
          <a:p/>
        </p:txBody>
      </p:sp>
      <p:pic>
        <p:nvPicPr>
          <p:cNvPr id="21" name="Image 8" descr="preencoded.png">    </p:cNvPr>
          <p:cNvPicPr>
            <a:picLocks noChangeAspect="1"/>
          </p:cNvPicPr>
          <p:nvPr/>
        </p:nvPicPr>
        <p:blipFill>
          <a:blip r:embed="rId9"/>
          <a:stretch>
            <a:fillRect/>
          </a:stretch>
        </p:blipFill>
        <p:spPr>
          <a:xfrm>
            <a:off x="7754112" y="1536192"/>
            <a:ext cx="356616" cy="356616"/>
          </a:xfrm>
          <a:prstGeom prst="rect">
            <a:avLst/>
          </a:prstGeom>
        </p:spPr>
      </p:pic>
      <p:sp>
        <p:nvSpPr>
          <p:cNvPr id="22" name="Text 11"/>
          <p:cNvSpPr txBox="1"/>
          <p:nvPr/>
        </p:nvSpPr>
        <p:spPr>
          <a:xfrm>
            <a:off x="7269480" y="2148840"/>
            <a:ext cx="1325880" cy="365760"/>
          </a:xfrm>
          <a:prstGeom prst="rect">
            <a:avLst/>
          </a:prstGeom>
          <a:noFill/>
          <a:ln/>
        </p:spPr>
        <p:txBody>
          <a:bodyPr wrap="square" lIns="0" tIns="0" rIns="0" bIns="0" rtlCol="0" anchor="ctr"/>
          <a:lstStyle/>
          <a:p>
            <a:pPr algn="ctr" indent="0" marL="0">
              <a:buNone/>
            </a:pPr>
            <a:r>
              <a:rPr lang="en-US" sz="1300" b="1" dirty="0">
                <a:solidFill>
                  <a:srgbClr val="1F2A24"/>
                </a:solidFill>
                <a:latin typeface="Calibri" pitchFamily="34" charset="0"/>
                <a:ea typeface="Calibri" pitchFamily="34" charset="-122"/>
                <a:cs typeface="Calibri" pitchFamily="34" charset="-120"/>
              </a:rPr>
              <a:t>Reservar</a:t>
            </a:r>
            <a:endParaRPr lang="en-US" sz="1300" dirty="0"/>
          </a:p>
        </p:txBody>
      </p:sp>
      <p:sp>
        <p:nvSpPr>
          <p:cNvPr id="23" name="Shape 12"/>
          <p:cNvSpPr/>
          <p:nvPr/>
        </p:nvSpPr>
        <p:spPr>
          <a:xfrm>
            <a:off x="457200" y="2834640"/>
            <a:ext cx="2606040" cy="1188720"/>
          </a:xfrm>
          <a:prstGeom prst="roundRect">
            <a:avLst>
              <a:gd name="adj" fmla="val 6154"/>
            </a:avLst>
          </a:prstGeom>
          <a:solidFill>
            <a:srgbClr val="E9F2EC"/>
          </a:solidFill>
          <a:ln w="12700">
            <a:solidFill>
              <a:srgbClr val="E9F2EC"/>
            </a:solidFill>
            <a:prstDash val="solid"/>
          </a:ln>
        </p:spPr>
        <p:txBody>
          <a:bodyPr/>
          <a:p/>
        </p:txBody>
      </p:sp>
      <p:sp>
        <p:nvSpPr>
          <p:cNvPr id="24" name="Text 13"/>
          <p:cNvSpPr txBox="1"/>
          <p:nvPr/>
        </p:nvSpPr>
        <p:spPr>
          <a:xfrm>
            <a:off x="594360" y="2926080"/>
            <a:ext cx="2331720" cy="1005840"/>
          </a:xfrm>
          <a:prstGeom prst="rect">
            <a:avLst/>
          </a:prstGeom>
          <a:noFill/>
          <a:ln/>
        </p:spPr>
        <p:txBody>
          <a:bodyPr wrap="square" lIns="0" tIns="0" rIns="0" bIns="0" rtlCol="0" anchor="t"/>
          <a:lstStyle/>
          <a:p>
            <a:pPr indent="0" marL="0">
              <a:buNone/>
            </a:pPr>
            <a:r>
              <a:rPr lang="en-US" sz="1400" b="1" dirty="0">
                <a:solidFill>
                  <a:srgbClr val="D9512C"/>
                </a:solidFill>
                <a:latin typeface="Calibri" pitchFamily="34" charset="0"/>
                <a:ea typeface="Calibri" pitchFamily="34" charset="-122"/>
                <a:cs typeface="Calibri" pitchFamily="34" charset="-120"/>
              </a:rPr>
              <a:t>CI en cada PR</a:t>
            </a:r>
            <a:endParaRPr lang="en-US" sz="1400" dirty="0"/>
          </a:p>
          <a:p>
            <a:pPr indent="0" marL="0">
              <a:buNone/>
            </a:pPr>
            <a:r>
              <a:rPr lang="en-US" sz="1200" dirty="0">
                <a:solidFill>
                  <a:srgbClr val="1F2A24"/>
                </a:solidFill>
                <a:latin typeface="Calibri" pitchFamily="34" charset="0"/>
                <a:ea typeface="Calibri" pitchFamily="34" charset="-122"/>
                <a:cs typeface="Calibri" pitchFamily="34" charset="-120"/>
              </a:rPr>
              <a:t>Tipos, lint, OpenAPI, pruebas, build y Compose con PostGIS y Chromium HTTPS</a:t>
            </a:r>
            <a:endParaRPr lang="en-US" sz="1400" dirty="0"/>
          </a:p>
        </p:txBody>
      </p:sp>
      <p:sp>
        <p:nvSpPr>
          <p:cNvPr id="25" name="Shape 14"/>
          <p:cNvSpPr/>
          <p:nvPr/>
        </p:nvSpPr>
        <p:spPr>
          <a:xfrm>
            <a:off x="3246120" y="2834640"/>
            <a:ext cx="2606040" cy="1188720"/>
          </a:xfrm>
          <a:prstGeom prst="roundRect">
            <a:avLst>
              <a:gd name="adj" fmla="val 6154"/>
            </a:avLst>
          </a:prstGeom>
          <a:solidFill>
            <a:srgbClr val="E9F2EC"/>
          </a:solidFill>
          <a:ln w="12700">
            <a:solidFill>
              <a:srgbClr val="E9F2EC"/>
            </a:solidFill>
            <a:prstDash val="solid"/>
          </a:ln>
        </p:spPr>
        <p:txBody>
          <a:bodyPr/>
          <a:p/>
        </p:txBody>
      </p:sp>
      <p:sp>
        <p:nvSpPr>
          <p:cNvPr id="26" name="Text 15"/>
          <p:cNvSpPr txBox="1"/>
          <p:nvPr/>
        </p:nvSpPr>
        <p:spPr>
          <a:xfrm>
            <a:off x="3383280" y="2926080"/>
            <a:ext cx="2331720" cy="1005840"/>
          </a:xfrm>
          <a:prstGeom prst="rect">
            <a:avLst/>
          </a:prstGeom>
          <a:noFill/>
          <a:ln/>
        </p:spPr>
        <p:txBody>
          <a:bodyPr wrap="square" lIns="0" tIns="0" rIns="0" bIns="0" rtlCol="0" anchor="t"/>
          <a:lstStyle/>
          <a:p>
            <a:pPr indent="0" marL="0">
              <a:buNone/>
            </a:pPr>
            <a:r>
              <a:rPr lang="en-US" sz="1400" b="1" dirty="0">
                <a:solidFill>
                  <a:srgbClr val="D9512C"/>
                </a:solidFill>
                <a:latin typeface="Calibri" pitchFamily="34" charset="0"/>
                <a:ea typeface="Calibri" pitchFamily="34" charset="-122"/>
                <a:cs typeface="Calibri" pitchFamily="34" charset="-120"/>
              </a:rPr>
              <a:t>CD automático</a:t>
            </a:r>
            <a:endParaRPr lang="en-US" sz="1400" dirty="0"/>
          </a:p>
          <a:p>
            <a:pPr indent="0" marL="0">
              <a:buNone/>
            </a:pPr>
            <a:r>
              <a:rPr lang="en-US" sz="1200" dirty="0">
                <a:solidFill>
                  <a:srgbClr val="1F2A24"/>
                </a:solidFill>
                <a:latin typeface="Calibri" pitchFamily="34" charset="0"/>
                <a:ea typeface="Calibri" pitchFamily="34" charset="-122"/>
                <a:cs typeface="Calibri" pitchFamily="34" charset="-120"/>
              </a:rPr>
              <a:t>Tras CI de main: migraciones como pre-deploy, API, worker, web y smoke HTTPS</a:t>
            </a:r>
            <a:endParaRPr lang="en-US" sz="1400" dirty="0"/>
          </a:p>
        </p:txBody>
      </p:sp>
      <p:sp>
        <p:nvSpPr>
          <p:cNvPr id="27" name="Shape 16"/>
          <p:cNvSpPr/>
          <p:nvPr/>
        </p:nvSpPr>
        <p:spPr>
          <a:xfrm>
            <a:off x="6035040" y="2834640"/>
            <a:ext cx="2606040" cy="1188720"/>
          </a:xfrm>
          <a:prstGeom prst="roundRect">
            <a:avLst>
              <a:gd name="adj" fmla="val 6154"/>
            </a:avLst>
          </a:prstGeom>
          <a:solidFill>
            <a:srgbClr val="E9F2EC"/>
          </a:solidFill>
          <a:ln w="12700">
            <a:solidFill>
              <a:srgbClr val="E9F2EC"/>
            </a:solidFill>
            <a:prstDash val="solid"/>
          </a:ln>
        </p:spPr>
        <p:txBody>
          <a:bodyPr/>
          <a:p/>
        </p:txBody>
      </p:sp>
      <p:sp>
        <p:nvSpPr>
          <p:cNvPr id="28" name="Text 17"/>
          <p:cNvSpPr txBox="1"/>
          <p:nvPr/>
        </p:nvSpPr>
        <p:spPr>
          <a:xfrm>
            <a:off x="6172200" y="2926080"/>
            <a:ext cx="2331720" cy="1005840"/>
          </a:xfrm>
          <a:prstGeom prst="rect">
            <a:avLst/>
          </a:prstGeom>
          <a:noFill/>
          <a:ln/>
        </p:spPr>
        <p:txBody>
          <a:bodyPr wrap="square" lIns="0" tIns="0" rIns="0" bIns="0" rtlCol="0" anchor="t"/>
          <a:lstStyle/>
          <a:p>
            <a:pPr indent="0" marL="0">
              <a:buNone/>
            </a:pPr>
            <a:r>
              <a:rPr lang="en-US" sz="1400" b="1" dirty="0">
                <a:solidFill>
                  <a:srgbClr val="D9512C"/>
                </a:solidFill>
                <a:latin typeface="Calibri" pitchFamily="34" charset="0"/>
                <a:ea typeface="Calibri" pitchFamily="34" charset="-122"/>
                <a:cs typeface="Calibri" pitchFamily="34" charset="-120"/>
              </a:rPr>
              <a:t>Tag y release</a:t>
            </a:r>
            <a:endParaRPr lang="en-US" sz="1400" dirty="0"/>
          </a:p>
          <a:p>
            <a:pPr indent="0" marL="0">
              <a:buNone/>
            </a:pPr>
            <a:r>
              <a:rPr lang="en-US" sz="1200" dirty="0">
                <a:solidFill>
                  <a:srgbClr val="1F2A24"/>
                </a:solidFill>
                <a:latin typeface="Calibri" pitchFamily="34" charset="0"/>
                <a:ea typeface="Calibri" pitchFamily="34" charset="-122"/>
                <a:cs typeface="Calibri" pitchFamily="34" charset="-120"/>
              </a:rPr>
              <a:t>deploy-3b51b34 (30-09-2026), con IDs de despliegue y enlaces al CI</a:t>
            </a:r>
            <a:endParaRPr lang="en-US" sz="1400" dirty="0"/>
          </a:p>
        </p:txBody>
      </p:sp>
      <p:sp>
        <p:nvSpPr>
          <p:cNvPr id="29" name="Text 18"/>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11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Calidad: qué se prueba y dónde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Las pruebas críticas usan PostgreSQL real, como comprometió E1</a:t>
            </a:r>
            <a:endParaRPr lang="en-US" sz="1300" dirty="0"/>
          </a:p>
        </p:txBody>
      </p:sp>
      <p:sp>
        <p:nvSpPr>
          <p:cNvPr id="4" name="Shape 2"/>
          <p:cNvSpPr/>
          <p:nvPr/>
        </p:nvSpPr>
        <p:spPr>
          <a:xfrm>
            <a:off x="457200" y="1325880"/>
            <a:ext cx="1920240" cy="1463040"/>
          </a:xfrm>
          <a:prstGeom prst="roundRect">
            <a:avLst>
              <a:gd name="adj" fmla="val 5000"/>
            </a:avLst>
          </a:prstGeom>
          <a:solidFill>
            <a:srgbClr val="E9F2EC"/>
          </a:solidFill>
          <a:ln w="12700">
            <a:solidFill>
              <a:srgbClr val="E9F2EC"/>
            </a:solidFill>
            <a:prstDash val="solid"/>
          </a:ln>
        </p:spPr>
        <p:txBody>
          <a:bodyPr/>
          <a:p/>
        </p:txBody>
      </p:sp>
      <p:sp>
        <p:nvSpPr>
          <p:cNvPr id="5" name="Text 3"/>
          <p:cNvSpPr txBox="1"/>
          <p:nvPr/>
        </p:nvSpPr>
        <p:spPr>
          <a:xfrm>
            <a:off x="457200" y="1371600"/>
            <a:ext cx="1920240" cy="777240"/>
          </a:xfrm>
          <a:prstGeom prst="rect">
            <a:avLst/>
          </a:prstGeom>
          <a:noFill/>
          <a:ln/>
        </p:spPr>
        <p:txBody>
          <a:bodyPr wrap="square" lIns="0" tIns="0" rIns="0" bIns="0" rtlCol="0" anchor="ctr"/>
          <a:lstStyle/>
          <a:p>
            <a:pPr algn="ctr" indent="0" marL="0">
              <a:buNone/>
            </a:pPr>
            <a:r>
              <a:rPr lang="en-US" sz="4000" b="1" dirty="0">
                <a:solidFill>
                  <a:srgbClr val="D9512C"/>
                </a:solidFill>
                <a:latin typeface="Cambria" pitchFamily="34" charset="0"/>
                <a:ea typeface="Cambria" pitchFamily="34" charset="-122"/>
                <a:cs typeface="Cambria" pitchFamily="34" charset="-120"/>
              </a:rPr>
              <a:t>60</a:t>
            </a:r>
            <a:endParaRPr lang="en-US" sz="4000" dirty="0"/>
          </a:p>
        </p:txBody>
      </p:sp>
      <p:sp>
        <p:nvSpPr>
          <p:cNvPr id="6" name="Text 4"/>
          <p:cNvSpPr txBox="1"/>
          <p:nvPr/>
        </p:nvSpPr>
        <p:spPr>
          <a:xfrm>
            <a:off x="594360" y="2148840"/>
            <a:ext cx="1645920" cy="548640"/>
          </a:xfrm>
          <a:prstGeom prst="rect">
            <a:avLst/>
          </a:prstGeom>
          <a:noFill/>
          <a:ln/>
        </p:spPr>
        <p:txBody>
          <a:bodyPr wrap="square" lIns="0" tIns="0" rIns="0" bIns="0" rtlCol="0" anchor="ctr"/>
          <a:lstStyle/>
          <a:p>
            <a:pPr algn="ctr" indent="0" marL="0">
              <a:buNone/>
            </a:pPr>
            <a:r>
              <a:rPr lang="en-US" sz="1150" dirty="0">
                <a:solidFill>
                  <a:srgbClr val="1F2A24"/>
                </a:solidFill>
                <a:latin typeface="Calibri" pitchFamily="34" charset="0"/>
                <a:ea typeface="Calibri" pitchFamily="34" charset="-122"/>
                <a:cs typeface="Calibri" pitchFamily="34" charset="-120"/>
              </a:rPr>
              <a:t>pruebas unitarias e HTTP contra OpenAPI</a:t>
            </a:r>
            <a:endParaRPr lang="en-US" sz="1150" dirty="0"/>
          </a:p>
        </p:txBody>
      </p:sp>
      <p:sp>
        <p:nvSpPr>
          <p:cNvPr id="7" name="Shape 5"/>
          <p:cNvSpPr/>
          <p:nvPr/>
        </p:nvSpPr>
        <p:spPr>
          <a:xfrm>
            <a:off x="2560320" y="1325880"/>
            <a:ext cx="1920240" cy="1463040"/>
          </a:xfrm>
          <a:prstGeom prst="roundRect">
            <a:avLst>
              <a:gd name="adj" fmla="val 5000"/>
            </a:avLst>
          </a:prstGeom>
          <a:solidFill>
            <a:srgbClr val="E9F2EC"/>
          </a:solidFill>
          <a:ln w="12700">
            <a:solidFill>
              <a:srgbClr val="E9F2EC"/>
            </a:solidFill>
            <a:prstDash val="solid"/>
          </a:ln>
        </p:spPr>
        <p:txBody>
          <a:bodyPr/>
          <a:p/>
        </p:txBody>
      </p:sp>
      <p:sp>
        <p:nvSpPr>
          <p:cNvPr id="8" name="Text 6"/>
          <p:cNvSpPr txBox="1"/>
          <p:nvPr/>
        </p:nvSpPr>
        <p:spPr>
          <a:xfrm>
            <a:off x="2560320" y="1371600"/>
            <a:ext cx="1920240" cy="777240"/>
          </a:xfrm>
          <a:prstGeom prst="rect">
            <a:avLst/>
          </a:prstGeom>
          <a:noFill/>
          <a:ln/>
        </p:spPr>
        <p:txBody>
          <a:bodyPr wrap="square" lIns="0" tIns="0" rIns="0" bIns="0" rtlCol="0" anchor="ctr"/>
          <a:lstStyle/>
          <a:p>
            <a:pPr algn="ctr" indent="0" marL="0">
              <a:buNone/>
            </a:pPr>
            <a:r>
              <a:rPr lang="en-US" sz="4000" b="1" dirty="0">
                <a:solidFill>
                  <a:srgbClr val="D9512C"/>
                </a:solidFill>
                <a:latin typeface="Cambria" pitchFamily="34" charset="0"/>
                <a:ea typeface="Cambria" pitchFamily="34" charset="-122"/>
                <a:cs typeface="Cambria" pitchFamily="34" charset="-120"/>
              </a:rPr>
              <a:t>8</a:t>
            </a:r>
            <a:endParaRPr lang="en-US" sz="4000" dirty="0"/>
          </a:p>
        </p:txBody>
      </p:sp>
      <p:sp>
        <p:nvSpPr>
          <p:cNvPr id="9" name="Text 7"/>
          <p:cNvSpPr txBox="1"/>
          <p:nvPr/>
        </p:nvSpPr>
        <p:spPr>
          <a:xfrm>
            <a:off x="2697480" y="2148840"/>
            <a:ext cx="1645920" cy="548640"/>
          </a:xfrm>
          <a:prstGeom prst="rect">
            <a:avLst/>
          </a:prstGeom>
          <a:noFill/>
          <a:ln/>
        </p:spPr>
        <p:txBody>
          <a:bodyPr wrap="square" lIns="0" tIns="0" rIns="0" bIns="0" rtlCol="0" anchor="ctr"/>
          <a:lstStyle/>
          <a:p>
            <a:pPr algn="ctr" indent="0" marL="0">
              <a:buNone/>
            </a:pPr>
            <a:r>
              <a:rPr lang="en-US" sz="1150" dirty="0">
                <a:solidFill>
                  <a:srgbClr val="1F2A24"/>
                </a:solidFill>
                <a:latin typeface="Calibri" pitchFamily="34" charset="0"/>
                <a:ea typeface="Calibri" pitchFamily="34" charset="-122"/>
                <a:cs typeface="Calibri" pitchFamily="34" charset="-120"/>
              </a:rPr>
              <a:t>migraciones desde vacío, upgrade y rollback</a:t>
            </a:r>
            <a:endParaRPr lang="en-US" sz="1150" dirty="0"/>
          </a:p>
        </p:txBody>
      </p:sp>
      <p:sp>
        <p:nvSpPr>
          <p:cNvPr id="10" name="Shape 8"/>
          <p:cNvSpPr/>
          <p:nvPr/>
        </p:nvSpPr>
        <p:spPr>
          <a:xfrm>
            <a:off x="4663440" y="1325880"/>
            <a:ext cx="1920240" cy="1463040"/>
          </a:xfrm>
          <a:prstGeom prst="roundRect">
            <a:avLst>
              <a:gd name="adj" fmla="val 5000"/>
            </a:avLst>
          </a:prstGeom>
          <a:solidFill>
            <a:srgbClr val="E9F2EC"/>
          </a:solidFill>
          <a:ln w="12700">
            <a:solidFill>
              <a:srgbClr val="E9F2EC"/>
            </a:solidFill>
            <a:prstDash val="solid"/>
          </a:ln>
        </p:spPr>
        <p:txBody>
          <a:bodyPr/>
          <a:p/>
        </p:txBody>
      </p:sp>
      <p:sp>
        <p:nvSpPr>
          <p:cNvPr id="11" name="Text 9"/>
          <p:cNvSpPr txBox="1"/>
          <p:nvPr/>
        </p:nvSpPr>
        <p:spPr>
          <a:xfrm>
            <a:off x="4663440" y="1371600"/>
            <a:ext cx="1920240" cy="777240"/>
          </a:xfrm>
          <a:prstGeom prst="rect">
            <a:avLst/>
          </a:prstGeom>
          <a:noFill/>
          <a:ln/>
        </p:spPr>
        <p:txBody>
          <a:bodyPr wrap="square" lIns="0" tIns="0" rIns="0" bIns="0" rtlCol="0" anchor="ctr"/>
          <a:lstStyle/>
          <a:p>
            <a:pPr algn="ctr" indent="0" marL="0">
              <a:buNone/>
            </a:pPr>
            <a:r>
              <a:rPr lang="en-US" sz="4000" b="1" dirty="0">
                <a:solidFill>
                  <a:srgbClr val="D9512C"/>
                </a:solidFill>
                <a:latin typeface="Cambria" pitchFamily="34" charset="0"/>
                <a:ea typeface="Cambria" pitchFamily="34" charset="-122"/>
                <a:cs typeface="Cambria" pitchFamily="34" charset="-120"/>
              </a:rPr>
              <a:t>5</a:t>
            </a:r>
            <a:endParaRPr lang="en-US" sz="4000" dirty="0"/>
          </a:p>
        </p:txBody>
      </p:sp>
      <p:sp>
        <p:nvSpPr>
          <p:cNvPr id="12" name="Text 10"/>
          <p:cNvSpPr txBox="1"/>
          <p:nvPr/>
        </p:nvSpPr>
        <p:spPr>
          <a:xfrm>
            <a:off x="4800600" y="2148840"/>
            <a:ext cx="1645920" cy="548640"/>
          </a:xfrm>
          <a:prstGeom prst="rect">
            <a:avLst/>
          </a:prstGeom>
          <a:noFill/>
          <a:ln/>
        </p:spPr>
        <p:txBody>
          <a:bodyPr wrap="square" lIns="0" tIns="0" rIns="0" bIns="0" rtlCol="0" anchor="ctr"/>
          <a:lstStyle/>
          <a:p>
            <a:pPr algn="ctr" indent="0" marL="0">
              <a:buNone/>
            </a:pPr>
            <a:r>
              <a:rPr lang="en-US" sz="1150" dirty="0">
                <a:solidFill>
                  <a:srgbClr val="1F2A24"/>
                </a:solidFill>
                <a:latin typeface="Calibri" pitchFamily="34" charset="0"/>
                <a:ea typeface="Calibri" pitchFamily="34" charset="-122"/>
                <a:cs typeface="Calibri" pitchFamily="34" charset="-120"/>
              </a:rPr>
              <a:t>suites con PostgreSQL/PostGIS real</a:t>
            </a:r>
            <a:endParaRPr lang="en-US" sz="1150" dirty="0"/>
          </a:p>
        </p:txBody>
      </p:sp>
      <p:sp>
        <p:nvSpPr>
          <p:cNvPr id="13" name="Shape 11"/>
          <p:cNvSpPr/>
          <p:nvPr/>
        </p:nvSpPr>
        <p:spPr>
          <a:xfrm>
            <a:off x="6766560" y="1325880"/>
            <a:ext cx="1920240" cy="1463040"/>
          </a:xfrm>
          <a:prstGeom prst="roundRect">
            <a:avLst>
              <a:gd name="adj" fmla="val 5000"/>
            </a:avLst>
          </a:prstGeom>
          <a:solidFill>
            <a:srgbClr val="E9F2EC"/>
          </a:solidFill>
          <a:ln w="12700">
            <a:solidFill>
              <a:srgbClr val="E9F2EC"/>
            </a:solidFill>
            <a:prstDash val="solid"/>
          </a:ln>
        </p:spPr>
        <p:txBody>
          <a:bodyPr/>
          <a:p/>
        </p:txBody>
      </p:sp>
      <p:sp>
        <p:nvSpPr>
          <p:cNvPr id="14" name="Text 12"/>
          <p:cNvSpPr txBox="1"/>
          <p:nvPr/>
        </p:nvSpPr>
        <p:spPr>
          <a:xfrm>
            <a:off x="6766560" y="1371600"/>
            <a:ext cx="1920240" cy="777240"/>
          </a:xfrm>
          <a:prstGeom prst="rect">
            <a:avLst/>
          </a:prstGeom>
          <a:noFill/>
          <a:ln/>
        </p:spPr>
        <p:txBody>
          <a:bodyPr wrap="square" lIns="0" tIns="0" rIns="0" bIns="0" rtlCol="0" anchor="ctr"/>
          <a:lstStyle/>
          <a:p>
            <a:pPr algn="ctr" indent="0" marL="0">
              <a:buNone/>
            </a:pPr>
            <a:r>
              <a:rPr lang="en-US" sz="4000" b="1" dirty="0">
                <a:solidFill>
                  <a:srgbClr val="D9512C"/>
                </a:solidFill>
                <a:latin typeface="Cambria" pitchFamily="34" charset="0"/>
                <a:ea typeface="Cambria" pitchFamily="34" charset="-122"/>
                <a:cs typeface="Cambria" pitchFamily="34" charset="-120"/>
              </a:rPr>
              <a:t>3</a:t>
            </a:r>
            <a:endParaRPr lang="en-US" sz="4000" dirty="0"/>
          </a:p>
        </p:txBody>
      </p:sp>
      <p:sp>
        <p:nvSpPr>
          <p:cNvPr id="15" name="Text 13"/>
          <p:cNvSpPr txBox="1"/>
          <p:nvPr/>
        </p:nvSpPr>
        <p:spPr>
          <a:xfrm>
            <a:off x="6903720" y="2148840"/>
            <a:ext cx="1645920" cy="548640"/>
          </a:xfrm>
          <a:prstGeom prst="rect">
            <a:avLst/>
          </a:prstGeom>
          <a:noFill/>
          <a:ln/>
        </p:spPr>
        <p:txBody>
          <a:bodyPr wrap="square" lIns="0" tIns="0" rIns="0" bIns="0" rtlCol="0" anchor="ctr"/>
          <a:lstStyle/>
          <a:p>
            <a:pPr algn="ctr" indent="0" marL="0">
              <a:buNone/>
            </a:pPr>
            <a:r>
              <a:rPr lang="en-US" sz="1150" dirty="0">
                <a:solidFill>
                  <a:srgbClr val="1F2A24"/>
                </a:solidFill>
                <a:latin typeface="Calibri" pitchFamily="34" charset="0"/>
                <a:ea typeface="Calibri" pitchFamily="34" charset="-122"/>
                <a:cs typeface="Calibri" pitchFamily="34" charset="-120"/>
              </a:rPr>
              <a:t>recorridos web en Chromium HTTPS</a:t>
            </a:r>
            <a:endParaRPr lang="en-US" sz="1150" dirty="0"/>
          </a:p>
        </p:txBody>
      </p:sp>
      <p:sp>
        <p:nvSpPr>
          <p:cNvPr id="16" name="Text 14"/>
          <p:cNvSpPr txBox="1"/>
          <p:nvPr/>
        </p:nvSpPr>
        <p:spPr>
          <a:xfrm>
            <a:off x="457200" y="3017520"/>
            <a:ext cx="822960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Concurrencia: último pack disputado, dos ediciones con la misma versión, edición contra publicación</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Seguridad: sesión vencida, CSRF y Origin inválidos, acceso entre establecimientos</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Recuperación: reinicio de API y de worker, respuesta perdida tras commit, base caída responde 503</a:t>
            </a:r>
            <a:endParaRPr lang="en-US" sz="1300" dirty="0"/>
          </a:p>
        </p:txBody>
      </p:sp>
      <p:sp>
        <p:nvSpPr>
          <p:cNvPr id="17" name="Text 15"/>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Estimación y avance S01–S03</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Horas equipo estimadas en el tablero (responsable + revisión)</a:t>
            </a:r>
            <a:endParaRPr lang="en-US" sz="1300" dirty="0"/>
          </a:p>
        </p:txBody>
      </p:sp>
      <p:graphicFrame>
        <p:nvGraphicFramePr>
          <p:cNvPr id="4" name="Chart 0" descr=""/>
          <p:cNvGraphicFramePr/>
          <p:nvPr/>
        </p:nvGraphicFramePr>
        <p:xfrm>
          <a:off x="457200" y="123444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0" y="1280160"/>
            <a:ext cx="3017520" cy="960120"/>
          </a:xfrm>
          <a:prstGeom prst="roundRect">
            <a:avLst>
              <a:gd name="adj" fmla="val 7619"/>
            </a:avLst>
          </a:prstGeom>
          <a:solidFill>
            <a:srgbClr val="E9F2EC"/>
          </a:solidFill>
          <a:ln w="12700">
            <a:solidFill>
              <a:srgbClr val="E9F2EC"/>
            </a:solidFill>
            <a:prstDash val="solid"/>
          </a:ln>
        </p:spPr>
        <p:txBody>
          <a:bodyPr/>
          <a:p/>
        </p:txBody>
      </p:sp>
      <p:sp>
        <p:nvSpPr>
          <p:cNvPr id="6" name="Text 3"/>
          <p:cNvSpPr txBox="1"/>
          <p:nvPr/>
        </p:nvSpPr>
        <p:spPr>
          <a:xfrm>
            <a:off x="5806440" y="1325880"/>
            <a:ext cx="2743200" cy="548640"/>
          </a:xfrm>
          <a:prstGeom prst="rect">
            <a:avLst/>
          </a:prstGeom>
          <a:noFill/>
          <a:ln/>
        </p:spPr>
        <p:txBody>
          <a:bodyPr wrap="square" lIns="0" tIns="0" rIns="0" bIns="0" rtlCol="0" anchor="ctr"/>
          <a:lstStyle/>
          <a:p>
            <a:pPr indent="0" marL="0">
              <a:buNone/>
            </a:pPr>
            <a:r>
              <a:rPr lang="en-US" sz="2600" b="1" dirty="0">
                <a:solidFill>
                  <a:srgbClr val="1E4D3A"/>
                </a:solidFill>
                <a:latin typeface="Cambria" pitchFamily="34" charset="0"/>
                <a:ea typeface="Cambria" pitchFamily="34" charset="-122"/>
                <a:cs typeface="Cambria" pitchFamily="34" charset="-120"/>
              </a:rPr>
              <a:t>17 / 20</a:t>
            </a:r>
            <a:endParaRPr lang="en-US" sz="2600" dirty="0"/>
          </a:p>
        </p:txBody>
      </p:sp>
      <p:sp>
        <p:nvSpPr>
          <p:cNvPr id="7" name="Text 4"/>
          <p:cNvSpPr txBox="1"/>
          <p:nvPr/>
        </p:nvSpPr>
        <p:spPr>
          <a:xfrm>
            <a:off x="5806440" y="1847088"/>
            <a:ext cx="2743200" cy="320040"/>
          </a:xfrm>
          <a:prstGeom prst="rect">
            <a:avLst/>
          </a:prstGeom>
          <a:noFill/>
          <a:ln/>
        </p:spPr>
        <p:txBody>
          <a:bodyPr wrap="square" lIns="0" tIns="0" rIns="0" bIns="0" rtlCol="0" anchor="ctr"/>
          <a:lstStyle/>
          <a:p>
            <a:pPr indent="0" marL="0">
              <a:buNone/>
            </a:pPr>
            <a:r>
              <a:rPr lang="en-US" sz="1200" dirty="0">
                <a:solidFill>
                  <a:srgbClr val="1F2A24"/>
                </a:solidFill>
                <a:latin typeface="Calibri" pitchFamily="34" charset="0"/>
                <a:ea typeface="Calibri" pitchFamily="34" charset="-122"/>
                <a:cs typeface="Calibri" pitchFamily="34" charset="-120"/>
              </a:rPr>
              <a:t>tarjetas E2 cerradas</a:t>
            </a:r>
            <a:endParaRPr lang="en-US" sz="1200" dirty="0"/>
          </a:p>
        </p:txBody>
      </p:sp>
      <p:sp>
        <p:nvSpPr>
          <p:cNvPr id="8" name="Shape 5"/>
          <p:cNvSpPr/>
          <p:nvPr/>
        </p:nvSpPr>
        <p:spPr>
          <a:xfrm>
            <a:off x="5669280" y="2377440"/>
            <a:ext cx="3017520" cy="960120"/>
          </a:xfrm>
          <a:prstGeom prst="roundRect">
            <a:avLst>
              <a:gd name="adj" fmla="val 7619"/>
            </a:avLst>
          </a:prstGeom>
          <a:solidFill>
            <a:srgbClr val="E9F2EC"/>
          </a:solidFill>
          <a:ln w="12700">
            <a:solidFill>
              <a:srgbClr val="E9F2EC"/>
            </a:solidFill>
            <a:prstDash val="solid"/>
          </a:ln>
        </p:spPr>
        <p:txBody>
          <a:bodyPr/>
          <a:p/>
        </p:txBody>
      </p:sp>
      <p:sp>
        <p:nvSpPr>
          <p:cNvPr id="9" name="Text 6"/>
          <p:cNvSpPr txBox="1"/>
          <p:nvPr/>
        </p:nvSpPr>
        <p:spPr>
          <a:xfrm>
            <a:off x="5806440" y="2423160"/>
            <a:ext cx="2743200" cy="548640"/>
          </a:xfrm>
          <a:prstGeom prst="rect">
            <a:avLst/>
          </a:prstGeom>
          <a:noFill/>
          <a:ln/>
        </p:spPr>
        <p:txBody>
          <a:bodyPr wrap="square" lIns="0" tIns="0" rIns="0" bIns="0" rtlCol="0" anchor="ctr"/>
          <a:lstStyle/>
          <a:p>
            <a:pPr indent="0" marL="0">
              <a:buNone/>
            </a:pPr>
            <a:r>
              <a:rPr lang="en-US" sz="2600" b="1" dirty="0">
                <a:solidFill>
                  <a:srgbClr val="1E4D3A"/>
                </a:solidFill>
                <a:latin typeface="Cambria" pitchFamily="34" charset="0"/>
                <a:ea typeface="Cambria" pitchFamily="34" charset="-122"/>
                <a:cs typeface="Cambria" pitchFamily="34" charset="-120"/>
              </a:rPr>
              <a:t>58 / 64 h</a:t>
            </a:r>
            <a:endParaRPr lang="en-US" sz="2600" dirty="0"/>
          </a:p>
        </p:txBody>
      </p:sp>
      <p:sp>
        <p:nvSpPr>
          <p:cNvPr id="10" name="Text 7"/>
          <p:cNvSpPr txBox="1"/>
          <p:nvPr/>
        </p:nvSpPr>
        <p:spPr>
          <a:xfrm>
            <a:off x="5806440" y="2944368"/>
            <a:ext cx="2743200" cy="320040"/>
          </a:xfrm>
          <a:prstGeom prst="rect">
            <a:avLst/>
          </a:prstGeom>
          <a:noFill/>
          <a:ln/>
        </p:spPr>
        <p:txBody>
          <a:bodyPr wrap="square" lIns="0" tIns="0" rIns="0" bIns="0" rtlCol="0" anchor="ctr"/>
          <a:lstStyle/>
          <a:p>
            <a:pPr indent="0" marL="0">
              <a:buNone/>
            </a:pPr>
            <a:r>
              <a:rPr lang="en-US" sz="1200" dirty="0">
                <a:solidFill>
                  <a:srgbClr val="1F2A24"/>
                </a:solidFill>
                <a:latin typeface="Calibri" pitchFamily="34" charset="0"/>
                <a:ea typeface="Calibri" pitchFamily="34" charset="-122"/>
                <a:cs typeface="Calibri" pitchFamily="34" charset="-120"/>
              </a:rPr>
              <a:t>horas estimadas cerradas</a:t>
            </a:r>
            <a:endParaRPr lang="en-US" sz="1200" dirty="0"/>
          </a:p>
        </p:txBody>
      </p:sp>
      <p:sp>
        <p:nvSpPr>
          <p:cNvPr id="11" name="Shape 8"/>
          <p:cNvSpPr/>
          <p:nvPr/>
        </p:nvSpPr>
        <p:spPr>
          <a:xfrm>
            <a:off x="5669280" y="3474720"/>
            <a:ext cx="3017520" cy="960120"/>
          </a:xfrm>
          <a:prstGeom prst="roundRect">
            <a:avLst>
              <a:gd name="adj" fmla="val 7619"/>
            </a:avLst>
          </a:prstGeom>
          <a:solidFill>
            <a:srgbClr val="FBEAE5"/>
          </a:solidFill>
          <a:ln w="12700">
            <a:solidFill>
              <a:srgbClr val="FBEAE5"/>
            </a:solidFill>
            <a:prstDash val="solid"/>
          </a:ln>
        </p:spPr>
        <p:txBody>
          <a:bodyPr/>
          <a:p/>
        </p:txBody>
      </p:sp>
      <p:sp>
        <p:nvSpPr>
          <p:cNvPr id="12" name="Text 9"/>
          <p:cNvSpPr txBox="1"/>
          <p:nvPr/>
        </p:nvSpPr>
        <p:spPr>
          <a:xfrm>
            <a:off x="5806440" y="3520440"/>
            <a:ext cx="2743200" cy="548640"/>
          </a:xfrm>
          <a:prstGeom prst="rect">
            <a:avLst/>
          </a:prstGeom>
          <a:noFill/>
          <a:ln/>
        </p:spPr>
        <p:txBody>
          <a:bodyPr wrap="square" lIns="0" tIns="0" rIns="0" bIns="0" rtlCol="0" anchor="ctr"/>
          <a:lstStyle/>
          <a:p>
            <a:pPr indent="0" marL="0">
              <a:buNone/>
            </a:pPr>
            <a:r>
              <a:rPr lang="en-US" sz="2600" b="1" dirty="0">
                <a:solidFill>
                  <a:srgbClr val="D9512C"/>
                </a:solidFill>
                <a:latin typeface="Cambria" pitchFamily="34" charset="0"/>
                <a:ea typeface="Cambria" pitchFamily="34" charset="-122"/>
                <a:cs typeface="Cambria" pitchFamily="34" charset="-120"/>
              </a:rPr>
              <a:t>Sin registrar</a:t>
            </a:r>
            <a:endParaRPr lang="en-US" sz="2600" dirty="0"/>
          </a:p>
        </p:txBody>
      </p:sp>
      <p:sp>
        <p:nvSpPr>
          <p:cNvPr id="13" name="Text 10"/>
          <p:cNvSpPr txBox="1"/>
          <p:nvPr/>
        </p:nvSpPr>
        <p:spPr>
          <a:xfrm>
            <a:off x="5806440" y="4041648"/>
            <a:ext cx="2743200" cy="320040"/>
          </a:xfrm>
          <a:prstGeom prst="rect">
            <a:avLst/>
          </a:prstGeom>
          <a:noFill/>
          <a:ln/>
        </p:spPr>
        <p:txBody>
          <a:bodyPr wrap="square" lIns="0" tIns="0" rIns="0" bIns="0" rtlCol="0" anchor="ctr"/>
          <a:lstStyle/>
          <a:p>
            <a:pPr indent="0" marL="0">
              <a:buNone/>
            </a:pPr>
            <a:r>
              <a:rPr lang="en-US" sz="1200" dirty="0">
                <a:solidFill>
                  <a:srgbClr val="1F2A24"/>
                </a:solidFill>
                <a:latin typeface="Calibri" pitchFamily="34" charset="0"/>
                <a:ea typeface="Calibri" pitchFamily="34" charset="-122"/>
                <a:cs typeface="Calibri" pitchFamily="34" charset="-120"/>
              </a:rPr>
              <a:t>horas reales: registro vacío en el plan</a:t>
            </a:r>
            <a:endParaRPr lang="en-US" sz="1200" dirty="0"/>
          </a:p>
        </p:txBody>
      </p:sp>
      <p:sp>
        <p:nvSpPr>
          <p:cNvPr id="14" name="Text 11"/>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Carga estimada por integrante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Horas de responsable en las tarjetas E2; la revisión cruzada se suma aparte</a:t>
            </a:r>
            <a:endParaRPr lang="en-US" sz="1300" dirty="0"/>
          </a:p>
        </p:txBody>
      </p:sp>
      <p:graphicFrame>
        <p:nvGraphicFramePr>
          <p:cNvPr id="4" name="Chart 0" descr=""/>
          <p:cNvGraphicFramePr/>
          <p:nvPr/>
        </p:nvGraphicFramePr>
        <p:xfrm>
          <a:off x="457200" y="123444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52160" y="1325880"/>
            <a:ext cx="2834640" cy="3108960"/>
          </a:xfrm>
          <a:prstGeom prst="roundRect">
            <a:avLst>
              <a:gd name="adj" fmla="val 2581"/>
            </a:avLst>
          </a:prstGeom>
          <a:solidFill>
            <a:srgbClr val="E9F2EC"/>
          </a:solidFill>
          <a:ln w="12700">
            <a:solidFill>
              <a:srgbClr val="E9F2EC"/>
            </a:solidFill>
            <a:prstDash val="solid"/>
          </a:ln>
        </p:spPr>
        <p:txBody>
          <a:bodyPr/>
          <a:p/>
        </p:txBody>
      </p:sp>
      <p:sp>
        <p:nvSpPr>
          <p:cNvPr id="6" name="Text 3"/>
          <p:cNvSpPr txBox="1"/>
          <p:nvPr/>
        </p:nvSpPr>
        <p:spPr>
          <a:xfrm>
            <a:off x="5989320" y="1417320"/>
            <a:ext cx="2606040" cy="2926080"/>
          </a:xfrm>
          <a:prstGeom prst="rect">
            <a:avLst/>
          </a:prstGeom>
          <a:noFill/>
          <a:ln/>
        </p:spPr>
        <p:txBody>
          <a:bodyPr wrap="square" lIns="0" tIns="0" rIns="0" bIns="0" rtlCol="0" anchor="t"/>
          <a:lstStyle/>
          <a:p>
            <a:pPr indent="0" marL="0">
              <a:buNone/>
            </a:pPr>
            <a:r>
              <a:rPr lang="en-US" sz="1500" b="1" dirty="0">
                <a:solidFill>
                  <a:srgbClr val="1E4D3A"/>
                </a:solidFill>
                <a:latin typeface="Calibri" pitchFamily="34" charset="0"/>
                <a:ea typeface="Calibri" pitchFamily="34" charset="-122"/>
                <a:cs typeface="Calibri" pitchFamily="34" charset="-120"/>
              </a:rPr>
              <a:t>Reparto equilibrado</a:t>
            </a:r>
            <a:endParaRPr lang="en-US" sz="1500" dirty="0"/>
          </a:p>
          <a:p>
            <a:pPr indent="0" marL="0">
              <a:buNone/>
            </a:pPr>
            <a:r>
              <a:rPr lang="en-US" sz="1200" dirty="0">
                <a:solidFill>
                  <a:srgbClr val="1F2A24"/>
                </a:solidFill>
                <a:latin typeface="Calibri" pitchFamily="34" charset="0"/>
                <a:ea typeface="Calibri" pitchFamily="34" charset="-122"/>
                <a:cs typeface="Calibri" pitchFamily="34" charset="-120"/>
              </a:rPr>
              <a:t>Entre 10 y 12 h por persona. Cada tarjeta tiene responsable y revisor distintos, así que todos revisaron trabajo ajeno.</a:t>
            </a:r>
            <a:endParaRPr lang="en-US" sz="15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D9512C"/>
                </a:solidFill>
                <a:latin typeface="Calibri" pitchFamily="34" charset="0"/>
                <a:ea typeface="Calibri" pitchFamily="34" charset="-122"/>
                <a:cs typeface="Calibri" pitchFamily="34" charset="-120"/>
              </a:rPr>
              <a:t>A cuidar</a:t>
            </a:r>
            <a:endParaRPr lang="en-US" sz="1500" dirty="0"/>
          </a:p>
          <a:p>
            <a:pPr indent="0" marL="0">
              <a:buNone/>
            </a:pPr>
            <a:r>
              <a:rPr lang="en-US" sz="1200" dirty="0">
                <a:solidFill>
                  <a:srgbClr val="1F2A24"/>
                </a:solidFill>
                <a:latin typeface="Calibri" pitchFamily="34" charset="0"/>
                <a:ea typeface="Calibri" pitchFamily="34" charset="-122"/>
                <a:cs typeface="Calibri" pitchFamily="34" charset="-120"/>
              </a:rPr>
              <a:t>La integración y el despliegue se concentran en pocas personas; docs/despliegue.md permite que otro integrante los repita.</a:t>
            </a:r>
            <a:endParaRPr lang="en-US" sz="1500" dirty="0"/>
          </a:p>
        </p:txBody>
      </p:sp>
      <p:sp>
        <p:nvSpPr>
          <p:cNvPr id="7" name="Text 4"/>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Siguiente iteración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Completar RF04 y comenzar retiro: K017 y K021–K026</a:t>
            </a:r>
            <a:endParaRPr lang="en-US" sz="1300" dirty="0"/>
          </a:p>
        </p:txBody>
      </p:sp>
      <p:sp>
        <p:nvSpPr>
          <p:cNvPr id="4" name="Shape 2"/>
          <p:cNvSpPr/>
          <p:nvPr/>
        </p:nvSpPr>
        <p:spPr>
          <a:xfrm>
            <a:off x="457200" y="1325880"/>
            <a:ext cx="4023360" cy="841248"/>
          </a:xfrm>
          <a:prstGeom prst="roundRect">
            <a:avLst>
              <a:gd name="adj" fmla="val 8696"/>
            </a:avLst>
          </a:prstGeom>
          <a:solidFill>
            <a:srgbClr val="E9F2EC"/>
          </a:solidFill>
          <a:ln w="12700">
            <a:solidFill>
              <a:srgbClr val="E9F2EC"/>
            </a:solidFill>
            <a:prstDash val="solid"/>
          </a:ln>
        </p:spPr>
        <p:txBody>
          <a:bodyPr/>
          <a:p/>
        </p:txBody>
      </p:sp>
      <p:sp>
        <p:nvSpPr>
          <p:cNvPr id="5" name="Text 3"/>
          <p:cNvSpPr txBox="1"/>
          <p:nvPr/>
        </p:nvSpPr>
        <p:spPr>
          <a:xfrm>
            <a:off x="594360" y="1463040"/>
            <a:ext cx="731520" cy="548640"/>
          </a:xfrm>
          <a:prstGeom prst="rect">
            <a:avLst/>
          </a:prstGeom>
          <a:noFill/>
          <a:ln/>
        </p:spPr>
        <p:txBody>
          <a:bodyPr wrap="square" lIns="0" tIns="0" rIns="0" bIns="0" rtlCol="0" anchor="ctr"/>
          <a:lstStyle/>
          <a:p>
            <a:pPr indent="0" marL="0">
              <a:buNone/>
            </a:pPr>
            <a:r>
              <a:rPr lang="en-US" sz="1600" b="1" dirty="0">
                <a:solidFill>
                  <a:srgbClr val="D9512C"/>
                </a:solidFill>
                <a:latin typeface="Cambria" pitchFamily="34" charset="0"/>
                <a:ea typeface="Cambria" pitchFamily="34" charset="-122"/>
                <a:cs typeface="Cambria" pitchFamily="34" charset="-120"/>
              </a:rPr>
              <a:t>K017</a:t>
            </a:r>
            <a:endParaRPr lang="en-US" sz="1600" dirty="0"/>
          </a:p>
        </p:txBody>
      </p:sp>
      <p:sp>
        <p:nvSpPr>
          <p:cNvPr id="6" name="Text 4"/>
          <p:cNvSpPr txBox="1"/>
          <p:nvPr/>
        </p:nvSpPr>
        <p:spPr>
          <a:xfrm>
            <a:off x="1371600" y="1417320"/>
            <a:ext cx="3017520" cy="658368"/>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Fotos en el formulario y el panel</a:t>
            </a:r>
            <a:endParaRPr lang="en-US" sz="1300" dirty="0"/>
          </a:p>
          <a:p>
            <a:pPr indent="0" marL="0">
              <a:buNone/>
            </a:pPr>
            <a:r>
              <a:rPr lang="en-US" sz="1100" dirty="0">
                <a:solidFill>
                  <a:srgbClr val="5B6B62"/>
                </a:solidFill>
                <a:latin typeface="Calibri" pitchFamily="34" charset="0"/>
                <a:ea typeface="Calibri" pitchFamily="34" charset="-122"/>
                <a:cs typeface="Calibri" pitchFamily="34" charset="-120"/>
              </a:rPr>
              <a:t>Felipe Espinoza</a:t>
            </a:r>
            <a:endParaRPr lang="en-US" sz="1300" dirty="0"/>
          </a:p>
        </p:txBody>
      </p:sp>
      <p:sp>
        <p:nvSpPr>
          <p:cNvPr id="7" name="Shape 5"/>
          <p:cNvSpPr/>
          <p:nvPr/>
        </p:nvSpPr>
        <p:spPr>
          <a:xfrm>
            <a:off x="4663440" y="1325880"/>
            <a:ext cx="4023360" cy="841248"/>
          </a:xfrm>
          <a:prstGeom prst="roundRect">
            <a:avLst>
              <a:gd name="adj" fmla="val 8696"/>
            </a:avLst>
          </a:prstGeom>
          <a:solidFill>
            <a:srgbClr val="E9F2EC"/>
          </a:solidFill>
          <a:ln w="12700">
            <a:solidFill>
              <a:srgbClr val="E9F2EC"/>
            </a:solidFill>
            <a:prstDash val="solid"/>
          </a:ln>
        </p:spPr>
        <p:txBody>
          <a:bodyPr/>
          <a:p/>
        </p:txBody>
      </p:sp>
      <p:sp>
        <p:nvSpPr>
          <p:cNvPr id="8" name="Text 6"/>
          <p:cNvSpPr txBox="1"/>
          <p:nvPr/>
        </p:nvSpPr>
        <p:spPr>
          <a:xfrm>
            <a:off x="4800600" y="1463040"/>
            <a:ext cx="731520" cy="548640"/>
          </a:xfrm>
          <a:prstGeom prst="rect">
            <a:avLst/>
          </a:prstGeom>
          <a:noFill/>
          <a:ln/>
        </p:spPr>
        <p:txBody>
          <a:bodyPr wrap="square" lIns="0" tIns="0" rIns="0" bIns="0" rtlCol="0" anchor="ctr"/>
          <a:lstStyle/>
          <a:p>
            <a:pPr indent="0" marL="0">
              <a:buNone/>
            </a:pPr>
            <a:r>
              <a:rPr lang="en-US" sz="1600" b="1" dirty="0">
                <a:solidFill>
                  <a:srgbClr val="D9512C"/>
                </a:solidFill>
                <a:latin typeface="Cambria" pitchFamily="34" charset="0"/>
                <a:ea typeface="Cambria" pitchFamily="34" charset="-122"/>
                <a:cs typeface="Cambria" pitchFamily="34" charset="-120"/>
              </a:rPr>
              <a:t>K021</a:t>
            </a:r>
            <a:endParaRPr lang="en-US" sz="1600" dirty="0"/>
          </a:p>
        </p:txBody>
      </p:sp>
      <p:sp>
        <p:nvSpPr>
          <p:cNvPr id="9" name="Text 7"/>
          <p:cNvSpPr txBox="1"/>
          <p:nvPr/>
        </p:nvSpPr>
        <p:spPr>
          <a:xfrm>
            <a:off x="5577840" y="1417320"/>
            <a:ext cx="3017520" cy="658368"/>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Reserva e idempotencia transaccional</a:t>
            </a:r>
            <a:endParaRPr lang="en-US" sz="1300" dirty="0"/>
          </a:p>
          <a:p>
            <a:pPr indent="0" marL="0">
              <a:buNone/>
            </a:pPr>
            <a:r>
              <a:rPr lang="en-US" sz="1100" dirty="0">
                <a:solidFill>
                  <a:srgbClr val="5B6B62"/>
                </a:solidFill>
                <a:latin typeface="Calibri" pitchFamily="34" charset="0"/>
                <a:ea typeface="Calibri" pitchFamily="34" charset="-122"/>
                <a:cs typeface="Calibri" pitchFamily="34" charset="-120"/>
              </a:rPr>
              <a:t>Clemente Acevedo</a:t>
            </a:r>
            <a:endParaRPr lang="en-US" sz="1300" dirty="0"/>
          </a:p>
        </p:txBody>
      </p:sp>
      <p:sp>
        <p:nvSpPr>
          <p:cNvPr id="10" name="Shape 8"/>
          <p:cNvSpPr/>
          <p:nvPr/>
        </p:nvSpPr>
        <p:spPr>
          <a:xfrm>
            <a:off x="457200" y="2331720"/>
            <a:ext cx="4023360" cy="841248"/>
          </a:xfrm>
          <a:prstGeom prst="roundRect">
            <a:avLst>
              <a:gd name="adj" fmla="val 8696"/>
            </a:avLst>
          </a:prstGeom>
          <a:solidFill>
            <a:srgbClr val="E9F2EC"/>
          </a:solidFill>
          <a:ln w="12700">
            <a:solidFill>
              <a:srgbClr val="E9F2EC"/>
            </a:solidFill>
            <a:prstDash val="solid"/>
          </a:ln>
        </p:spPr>
        <p:txBody>
          <a:bodyPr/>
          <a:p/>
        </p:txBody>
      </p:sp>
      <p:sp>
        <p:nvSpPr>
          <p:cNvPr id="11" name="Text 9"/>
          <p:cNvSpPr txBox="1"/>
          <p:nvPr/>
        </p:nvSpPr>
        <p:spPr>
          <a:xfrm>
            <a:off x="594360" y="2468880"/>
            <a:ext cx="731520" cy="548640"/>
          </a:xfrm>
          <a:prstGeom prst="rect">
            <a:avLst/>
          </a:prstGeom>
          <a:noFill/>
          <a:ln/>
        </p:spPr>
        <p:txBody>
          <a:bodyPr wrap="square" lIns="0" tIns="0" rIns="0" bIns="0" rtlCol="0" anchor="ctr"/>
          <a:lstStyle/>
          <a:p>
            <a:pPr indent="0" marL="0">
              <a:buNone/>
            </a:pPr>
            <a:r>
              <a:rPr lang="en-US" sz="1600" b="1" dirty="0">
                <a:solidFill>
                  <a:srgbClr val="D9512C"/>
                </a:solidFill>
                <a:latin typeface="Cambria" pitchFamily="34" charset="0"/>
                <a:ea typeface="Cambria" pitchFamily="34" charset="-122"/>
                <a:cs typeface="Cambria" pitchFamily="34" charset="-120"/>
              </a:rPr>
              <a:t>K022</a:t>
            </a:r>
            <a:endParaRPr lang="en-US" sz="1600" dirty="0"/>
          </a:p>
        </p:txBody>
      </p:sp>
      <p:sp>
        <p:nvSpPr>
          <p:cNvPr id="12" name="Text 10"/>
          <p:cNvSpPr txBox="1"/>
          <p:nvPr/>
        </p:nvSpPr>
        <p:spPr>
          <a:xfrm>
            <a:off x="1371600" y="2423160"/>
            <a:ext cx="3017520" cy="658368"/>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Cancelación y códigos de retiro</a:t>
            </a:r>
            <a:endParaRPr lang="en-US" sz="1300" dirty="0"/>
          </a:p>
          <a:p>
            <a:pPr indent="0" marL="0">
              <a:buNone/>
            </a:pPr>
            <a:r>
              <a:rPr lang="en-US" sz="1100" dirty="0">
                <a:solidFill>
                  <a:srgbClr val="5B6B62"/>
                </a:solidFill>
                <a:latin typeface="Calibri" pitchFamily="34" charset="0"/>
                <a:ea typeface="Calibri" pitchFamily="34" charset="-122"/>
                <a:cs typeface="Calibri" pitchFamily="34" charset="-120"/>
              </a:rPr>
              <a:t>Felipe Arnolds</a:t>
            </a:r>
            <a:endParaRPr lang="en-US" sz="1300" dirty="0"/>
          </a:p>
        </p:txBody>
      </p:sp>
      <p:sp>
        <p:nvSpPr>
          <p:cNvPr id="13" name="Shape 11"/>
          <p:cNvSpPr/>
          <p:nvPr/>
        </p:nvSpPr>
        <p:spPr>
          <a:xfrm>
            <a:off x="4663440" y="2331720"/>
            <a:ext cx="4023360" cy="841248"/>
          </a:xfrm>
          <a:prstGeom prst="roundRect">
            <a:avLst>
              <a:gd name="adj" fmla="val 8696"/>
            </a:avLst>
          </a:prstGeom>
          <a:solidFill>
            <a:srgbClr val="E9F2EC"/>
          </a:solidFill>
          <a:ln w="12700">
            <a:solidFill>
              <a:srgbClr val="E9F2EC"/>
            </a:solidFill>
            <a:prstDash val="solid"/>
          </a:ln>
        </p:spPr>
        <p:txBody>
          <a:bodyPr/>
          <a:p/>
        </p:txBody>
      </p:sp>
      <p:sp>
        <p:nvSpPr>
          <p:cNvPr id="14" name="Text 12"/>
          <p:cNvSpPr txBox="1"/>
          <p:nvPr/>
        </p:nvSpPr>
        <p:spPr>
          <a:xfrm>
            <a:off x="4800600" y="2468880"/>
            <a:ext cx="731520" cy="548640"/>
          </a:xfrm>
          <a:prstGeom prst="rect">
            <a:avLst/>
          </a:prstGeom>
          <a:noFill/>
          <a:ln/>
        </p:spPr>
        <p:txBody>
          <a:bodyPr wrap="square" lIns="0" tIns="0" rIns="0" bIns="0" rtlCol="0" anchor="ctr"/>
          <a:lstStyle/>
          <a:p>
            <a:pPr indent="0" marL="0">
              <a:buNone/>
            </a:pPr>
            <a:r>
              <a:rPr lang="en-US" sz="1600" b="1" dirty="0">
                <a:solidFill>
                  <a:srgbClr val="D9512C"/>
                </a:solidFill>
                <a:latin typeface="Cambria" pitchFamily="34" charset="0"/>
                <a:ea typeface="Cambria" pitchFamily="34" charset="-122"/>
                <a:cs typeface="Cambria" pitchFamily="34" charset="-120"/>
              </a:rPr>
              <a:t>K023</a:t>
            </a:r>
            <a:endParaRPr lang="en-US" sz="1600" dirty="0"/>
          </a:p>
        </p:txBody>
      </p:sp>
      <p:sp>
        <p:nvSpPr>
          <p:cNvPr id="15" name="Text 13"/>
          <p:cNvSpPr txBox="1"/>
          <p:nvPr/>
        </p:nvSpPr>
        <p:spPr>
          <a:xfrm>
            <a:off x="5577840" y="2423160"/>
            <a:ext cx="3017520" cy="658368"/>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Vista de reserva y cancelación</a:t>
            </a:r>
            <a:endParaRPr lang="en-US" sz="1300" dirty="0"/>
          </a:p>
          <a:p>
            <a:pPr indent="0" marL="0">
              <a:buNone/>
            </a:pPr>
            <a:r>
              <a:rPr lang="en-US" sz="1100" dirty="0">
                <a:solidFill>
                  <a:srgbClr val="5B6B62"/>
                </a:solidFill>
                <a:latin typeface="Calibri" pitchFamily="34" charset="0"/>
                <a:ea typeface="Calibri" pitchFamily="34" charset="-122"/>
                <a:cs typeface="Calibri" pitchFamily="34" charset="-120"/>
              </a:rPr>
              <a:t>Jorge Molina</a:t>
            </a:r>
            <a:endParaRPr lang="en-US" sz="1300" dirty="0"/>
          </a:p>
        </p:txBody>
      </p:sp>
      <p:sp>
        <p:nvSpPr>
          <p:cNvPr id="16" name="Shape 14"/>
          <p:cNvSpPr/>
          <p:nvPr/>
        </p:nvSpPr>
        <p:spPr>
          <a:xfrm>
            <a:off x="457200" y="3337560"/>
            <a:ext cx="4023360" cy="841248"/>
          </a:xfrm>
          <a:prstGeom prst="roundRect">
            <a:avLst>
              <a:gd name="adj" fmla="val 8696"/>
            </a:avLst>
          </a:prstGeom>
          <a:solidFill>
            <a:srgbClr val="E9F2EC"/>
          </a:solidFill>
          <a:ln w="12700">
            <a:solidFill>
              <a:srgbClr val="E9F2EC"/>
            </a:solidFill>
            <a:prstDash val="solid"/>
          </a:ln>
        </p:spPr>
        <p:txBody>
          <a:bodyPr/>
          <a:p/>
        </p:txBody>
      </p:sp>
      <p:sp>
        <p:nvSpPr>
          <p:cNvPr id="17" name="Text 15"/>
          <p:cNvSpPr txBox="1"/>
          <p:nvPr/>
        </p:nvSpPr>
        <p:spPr>
          <a:xfrm>
            <a:off x="594360" y="3474720"/>
            <a:ext cx="731520" cy="548640"/>
          </a:xfrm>
          <a:prstGeom prst="rect">
            <a:avLst/>
          </a:prstGeom>
          <a:noFill/>
          <a:ln/>
        </p:spPr>
        <p:txBody>
          <a:bodyPr wrap="square" lIns="0" tIns="0" rIns="0" bIns="0" rtlCol="0" anchor="ctr"/>
          <a:lstStyle/>
          <a:p>
            <a:pPr indent="0" marL="0">
              <a:buNone/>
            </a:pPr>
            <a:r>
              <a:rPr lang="en-US" sz="1600" b="1" dirty="0">
                <a:solidFill>
                  <a:srgbClr val="D9512C"/>
                </a:solidFill>
                <a:latin typeface="Cambria" pitchFamily="34" charset="0"/>
                <a:ea typeface="Cambria" pitchFamily="34" charset="-122"/>
                <a:cs typeface="Cambria" pitchFamily="34" charset="-120"/>
              </a:rPr>
              <a:t>K024</a:t>
            </a:r>
            <a:endParaRPr lang="en-US" sz="1600" dirty="0"/>
          </a:p>
        </p:txBody>
      </p:sp>
      <p:sp>
        <p:nvSpPr>
          <p:cNvPr id="18" name="Text 16"/>
          <p:cNvSpPr txBox="1"/>
          <p:nvPr/>
        </p:nvSpPr>
        <p:spPr>
          <a:xfrm>
            <a:off x="1371600" y="3429000"/>
            <a:ext cx="3017520" cy="658368"/>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Validación de entrega del operador</a:t>
            </a:r>
            <a:endParaRPr lang="en-US" sz="1300" dirty="0"/>
          </a:p>
          <a:p>
            <a:pPr indent="0" marL="0">
              <a:buNone/>
            </a:pPr>
            <a:r>
              <a:rPr lang="en-US" sz="1100" dirty="0">
                <a:solidFill>
                  <a:srgbClr val="5B6B62"/>
                </a:solidFill>
                <a:latin typeface="Calibri" pitchFamily="34" charset="0"/>
                <a:ea typeface="Calibri" pitchFamily="34" charset="-122"/>
                <a:cs typeface="Calibri" pitchFamily="34" charset="-120"/>
              </a:rPr>
              <a:t>Felipe Espinoza</a:t>
            </a:r>
            <a:endParaRPr lang="en-US" sz="1300" dirty="0"/>
          </a:p>
        </p:txBody>
      </p:sp>
      <p:sp>
        <p:nvSpPr>
          <p:cNvPr id="19" name="Shape 17"/>
          <p:cNvSpPr/>
          <p:nvPr/>
        </p:nvSpPr>
        <p:spPr>
          <a:xfrm>
            <a:off x="4663440" y="3337560"/>
            <a:ext cx="4023360" cy="841248"/>
          </a:xfrm>
          <a:prstGeom prst="roundRect">
            <a:avLst>
              <a:gd name="adj" fmla="val 8696"/>
            </a:avLst>
          </a:prstGeom>
          <a:solidFill>
            <a:srgbClr val="E9F2EC"/>
          </a:solidFill>
          <a:ln w="12700">
            <a:solidFill>
              <a:srgbClr val="E9F2EC"/>
            </a:solidFill>
            <a:prstDash val="solid"/>
          </a:ln>
        </p:spPr>
        <p:txBody>
          <a:bodyPr/>
          <a:p/>
        </p:txBody>
      </p:sp>
      <p:sp>
        <p:nvSpPr>
          <p:cNvPr id="20" name="Text 18"/>
          <p:cNvSpPr txBox="1"/>
          <p:nvPr/>
        </p:nvSpPr>
        <p:spPr>
          <a:xfrm>
            <a:off x="4800600" y="3474720"/>
            <a:ext cx="731520" cy="548640"/>
          </a:xfrm>
          <a:prstGeom prst="rect">
            <a:avLst/>
          </a:prstGeom>
          <a:noFill/>
          <a:ln/>
        </p:spPr>
        <p:txBody>
          <a:bodyPr wrap="square" lIns="0" tIns="0" rIns="0" bIns="0" rtlCol="0" anchor="ctr"/>
          <a:lstStyle/>
          <a:p>
            <a:pPr indent="0" marL="0">
              <a:buNone/>
            </a:pPr>
            <a:r>
              <a:rPr lang="en-US" sz="1600" b="1" dirty="0">
                <a:solidFill>
                  <a:srgbClr val="D9512C"/>
                </a:solidFill>
                <a:latin typeface="Cambria" pitchFamily="34" charset="0"/>
                <a:ea typeface="Cambria" pitchFamily="34" charset="-122"/>
                <a:cs typeface="Cambria" pitchFamily="34" charset="-120"/>
              </a:rPr>
              <a:t>K025</a:t>
            </a:r>
            <a:endParaRPr lang="en-US" sz="1600" dirty="0"/>
          </a:p>
        </p:txBody>
      </p:sp>
      <p:sp>
        <p:nvSpPr>
          <p:cNvPr id="21" name="Text 19"/>
          <p:cNvSpPr txBox="1"/>
          <p:nvPr/>
        </p:nvSpPr>
        <p:spPr>
          <a:xfrm>
            <a:off x="5577840" y="3429000"/>
            <a:ext cx="3017520" cy="658368"/>
          </a:xfrm>
          <a:prstGeom prst="rect">
            <a:avLst/>
          </a:prstGeom>
          <a:noFill/>
          <a:ln/>
        </p:spPr>
        <p:txBody>
          <a:bodyPr wrap="square" lIns="0" tIns="0" rIns="0" bIns="0" rtlCol="0" anchor="ctr"/>
          <a:lstStyle/>
          <a:p>
            <a:pPr indent="0" marL="0">
              <a:buNone/>
            </a:pPr>
            <a:r>
              <a:rPr lang="en-US" sz="1300" b="1" dirty="0">
                <a:solidFill>
                  <a:srgbClr val="1F2A24"/>
                </a:solidFill>
                <a:latin typeface="Calibri" pitchFamily="34" charset="0"/>
                <a:ea typeface="Calibri" pitchFamily="34" charset="-122"/>
                <a:cs typeface="Calibri" pitchFamily="34" charset="-120"/>
              </a:rPr>
              <a:t>Concurrencia y límites de retiro</a:t>
            </a:r>
            <a:endParaRPr lang="en-US" sz="1300" dirty="0"/>
          </a:p>
          <a:p>
            <a:pPr indent="0" marL="0">
              <a:buNone/>
            </a:pPr>
            <a:r>
              <a:rPr lang="en-US" sz="1100" dirty="0">
                <a:solidFill>
                  <a:srgbClr val="5B6B62"/>
                </a:solidFill>
                <a:latin typeface="Calibri" pitchFamily="34" charset="0"/>
                <a:ea typeface="Calibri" pitchFamily="34" charset="-122"/>
                <a:cs typeface="Calibri" pitchFamily="34" charset="-120"/>
              </a:rPr>
              <a:t>Vicente Reñasco</a:t>
            </a:r>
            <a:endParaRPr lang="en-US" sz="1300" dirty="0"/>
          </a:p>
        </p:txBody>
      </p:sp>
      <p:sp>
        <p:nvSpPr>
          <p:cNvPr id="22" name="Text 20"/>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200" i="1" dirty="0">
                <a:solidFill>
                  <a:srgbClr val="1E4D3A"/>
                </a:solidFill>
                <a:latin typeface="Calibri" pitchFamily="34" charset="0"/>
                <a:ea typeface="Calibri" pitchFamily="34" charset="-122"/>
                <a:cs typeface="Calibri" pitchFamily="34" charset="-120"/>
              </a:rPr>
              <a:t>K026 incorpora el feedback de E2.</a:t>
            </a:r>
            <a:endParaRPr lang="en-US" sz="1200" dirty="0"/>
          </a:p>
        </p:txBody>
      </p:sp>
      <p:sp>
        <p:nvSpPr>
          <p:cNvPr id="23" name="Text 21"/>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1E4D3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3" name="Text 1"/>
          <p:cNvSpPr txBox="1"/>
          <p:nvPr/>
        </p:nvSpPr>
        <p:spPr>
          <a:xfrm>
            <a:off x="548640" y="2377440"/>
            <a:ext cx="7772400" cy="411480"/>
          </a:xfrm>
          <a:prstGeom prst="rect">
            <a:avLst/>
          </a:prstGeom>
          <a:noFill/>
          <a:ln/>
        </p:spPr>
        <p:txBody>
          <a:bodyPr wrap="square" lIns="0" tIns="0" rIns="0" bIns="0" rtlCol="0" anchor="ctr"/>
          <a:lstStyle/>
          <a:p>
            <a:pPr indent="0" marL="0">
              <a:buNone/>
            </a:pPr>
            <a:r>
              <a:rPr lang="en-US" sz="1600" dirty="0">
                <a:solidFill>
                  <a:srgbClr val="CFE3D6"/>
                </a:solidFill>
                <a:latin typeface="Calibri" pitchFamily="34" charset="0"/>
                <a:ea typeface="Calibri" pitchFamily="34" charset="-122"/>
                <a:cs typeface="Calibri" pitchFamily="34" charset="-120"/>
              </a:rPr>
              <a:t>Código, ADR y evidencia: github.com/ClemoAcevedo/rescate</a:t>
            </a:r>
            <a:endParaRPr lang="en-US" sz="1600" dirty="0"/>
          </a:p>
        </p:txBody>
      </p:sp>
      <p:sp>
        <p:nvSpPr>
          <p:cNvPr id="4" name="Text 2"/>
          <p:cNvSpPr txBox="1"/>
          <p:nvPr/>
        </p:nvSpPr>
        <p:spPr>
          <a:xfrm>
            <a:off x="548640" y="3017520"/>
            <a:ext cx="731520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Preguntas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4D3A"/>
                </a:solidFill>
                <a:latin typeface="Cambria" pitchFamily="34" charset="0"/>
                <a:ea typeface="Cambria" pitchFamily="34" charset="-122"/>
                <a:cs typeface="Cambria" pitchFamily="34" charset="-120"/>
              </a:rPr>
              <a:t>Anexo: antecedentes de E1 sin cambios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300" dirty="0">
                <a:solidFill>
                  <a:srgbClr val="5B6B62"/>
                </a:solidFill>
                <a:latin typeface="Calibri" pitchFamily="34" charset="0"/>
                <a:ea typeface="Calibri" pitchFamily="34" charset="-122"/>
                <a:cs typeface="Calibri" pitchFamily="34" charset="-120"/>
              </a:rPr>
              <a:t>Sin observaciones en la corrección de E1: se mantienen como en los PDF de E1</a:t>
            </a:r>
            <a:endParaRPr lang="en-US" sz="1300" dirty="0"/>
          </a:p>
        </p:txBody>
      </p:sp>
      <p:sp>
        <p:nvSpPr>
          <p:cNvPr id="4" name="Shape 2"/>
          <p:cNvSpPr/>
          <p:nvPr/>
        </p:nvSpPr>
        <p:spPr>
          <a:xfrm>
            <a:off x="457200" y="1325880"/>
            <a:ext cx="4023360" cy="868680"/>
          </a:xfrm>
          <a:prstGeom prst="roundRect">
            <a:avLst>
              <a:gd name="adj" fmla="val 8421"/>
            </a:avLst>
          </a:prstGeom>
          <a:solidFill>
            <a:srgbClr val="E9F2EC"/>
          </a:solidFill>
          <a:ln w="12700">
            <a:solidFill>
              <a:srgbClr val="E9F2EC"/>
            </a:solidFill>
            <a:prstDash val="solid"/>
          </a:ln>
        </p:spPr>
        <p:txBody>
          <a:bodyPr/>
          <a:p/>
        </p:txBody>
      </p:sp>
      <p:sp>
        <p:nvSpPr>
          <p:cNvPr id="5" name="Text 3"/>
          <p:cNvSpPr txBox="1"/>
          <p:nvPr/>
        </p:nvSpPr>
        <p:spPr>
          <a:xfrm>
            <a:off x="594360" y="1399032"/>
            <a:ext cx="3749040" cy="73152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Packs indivisibles y lote inmutable</a:t>
            </a:r>
            <a:endParaRPr lang="en-US" sz="1300" dirty="0"/>
          </a:p>
          <a:p>
            <a:pPr indent="0" marL="0">
              <a:buNone/>
            </a:pPr>
            <a:r>
              <a:rPr lang="en-US" sz="1150" dirty="0">
                <a:solidFill>
                  <a:srgbClr val="1F2A24"/>
                </a:solidFill>
                <a:latin typeface="Calibri" pitchFamily="34" charset="0"/>
                <a:ea typeface="Calibri" pitchFamily="34" charset="-122"/>
                <a:cs typeface="Calibri" pitchFamily="34" charset="-120"/>
              </a:rPr>
              <a:t>Publicado, no cambian cantidad, contenido, lugar ni plazo</a:t>
            </a:r>
            <a:endParaRPr lang="en-US" sz="1300" dirty="0"/>
          </a:p>
        </p:txBody>
      </p:sp>
      <p:sp>
        <p:nvSpPr>
          <p:cNvPr id="6" name="Shape 4"/>
          <p:cNvSpPr/>
          <p:nvPr/>
        </p:nvSpPr>
        <p:spPr>
          <a:xfrm>
            <a:off x="4663440" y="1325880"/>
            <a:ext cx="4023360" cy="868680"/>
          </a:xfrm>
          <a:prstGeom prst="roundRect">
            <a:avLst>
              <a:gd name="adj" fmla="val 8421"/>
            </a:avLst>
          </a:prstGeom>
          <a:solidFill>
            <a:srgbClr val="E9F2EC"/>
          </a:solidFill>
          <a:ln w="12700">
            <a:solidFill>
              <a:srgbClr val="E9F2EC"/>
            </a:solidFill>
            <a:prstDash val="solid"/>
          </a:ln>
        </p:spPr>
        <p:txBody>
          <a:bodyPr/>
          <a:p/>
        </p:txBody>
      </p:sp>
      <p:sp>
        <p:nvSpPr>
          <p:cNvPr id="7" name="Text 5"/>
          <p:cNvSpPr txBox="1"/>
          <p:nvPr/>
        </p:nvSpPr>
        <p:spPr>
          <a:xfrm>
            <a:off x="4800600" y="1399032"/>
            <a:ext cx="3749040" cy="73152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Sesión opaca de 12 h</a:t>
            </a:r>
            <a:endParaRPr lang="en-US" sz="1300" dirty="0"/>
          </a:p>
          <a:p>
            <a:pPr indent="0" marL="0">
              <a:buNone/>
            </a:pPr>
            <a:r>
              <a:rPr lang="en-US" sz="1150" dirty="0">
                <a:solidFill>
                  <a:srgbClr val="1F2A24"/>
                </a:solidFill>
                <a:latin typeface="Calibri" pitchFamily="34" charset="0"/>
                <a:ea typeface="Calibri" pitchFamily="34" charset="-122"/>
                <a:cs typeface="Calibri" pitchFamily="34" charset="-120"/>
              </a:rPr>
              <a:t>scrypt, cookie HttpOnly/Secure/SameSite Lax, CSRF y Origin</a:t>
            </a:r>
            <a:endParaRPr lang="en-US" sz="1300" dirty="0"/>
          </a:p>
        </p:txBody>
      </p:sp>
      <p:sp>
        <p:nvSpPr>
          <p:cNvPr id="8" name="Shape 6"/>
          <p:cNvSpPr/>
          <p:nvPr/>
        </p:nvSpPr>
        <p:spPr>
          <a:xfrm>
            <a:off x="457200" y="2377440"/>
            <a:ext cx="4023360" cy="868680"/>
          </a:xfrm>
          <a:prstGeom prst="roundRect">
            <a:avLst>
              <a:gd name="adj" fmla="val 8421"/>
            </a:avLst>
          </a:prstGeom>
          <a:solidFill>
            <a:srgbClr val="E9F2EC"/>
          </a:solidFill>
          <a:ln w="12700">
            <a:solidFill>
              <a:srgbClr val="E9F2EC"/>
            </a:solidFill>
            <a:prstDash val="solid"/>
          </a:ln>
        </p:spPr>
        <p:txBody>
          <a:bodyPr/>
          <a:p/>
        </p:txBody>
      </p:sp>
      <p:sp>
        <p:nvSpPr>
          <p:cNvPr id="9" name="Text 7"/>
          <p:cNvSpPr txBox="1"/>
          <p:nvPr/>
        </p:nvSpPr>
        <p:spPr>
          <a:xfrm>
            <a:off x="594360" y="2450592"/>
            <a:ext cx="3749040" cy="73152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Límites de tráfico</a:t>
            </a:r>
            <a:endParaRPr lang="en-US" sz="1300" dirty="0"/>
          </a:p>
          <a:p>
            <a:pPr indent="0" marL="0">
              <a:buNone/>
            </a:pPr>
            <a:r>
              <a:rPr lang="en-US" sz="1150" dirty="0">
                <a:solidFill>
                  <a:srgbClr val="1F2A24"/>
                </a:solidFill>
                <a:latin typeface="Calibri" pitchFamily="34" charset="0"/>
                <a:ea typeface="Calibri" pitchFamily="34" charset="-122"/>
                <a:cs typeface="Calibri" pitchFamily="34" charset="-120"/>
              </a:rPr>
              <a:t>120 req/min por usuario, 3000 por IP; bloqueo de login 15 min</a:t>
            </a:r>
            <a:endParaRPr lang="en-US" sz="1300" dirty="0"/>
          </a:p>
        </p:txBody>
      </p:sp>
      <p:sp>
        <p:nvSpPr>
          <p:cNvPr id="10" name="Shape 8"/>
          <p:cNvSpPr/>
          <p:nvPr/>
        </p:nvSpPr>
        <p:spPr>
          <a:xfrm>
            <a:off x="4663440" y="2377440"/>
            <a:ext cx="4023360" cy="868680"/>
          </a:xfrm>
          <a:prstGeom prst="roundRect">
            <a:avLst>
              <a:gd name="adj" fmla="val 8421"/>
            </a:avLst>
          </a:prstGeom>
          <a:solidFill>
            <a:srgbClr val="E9F2EC"/>
          </a:solidFill>
          <a:ln w="12700">
            <a:solidFill>
              <a:srgbClr val="E9F2EC"/>
            </a:solidFill>
            <a:prstDash val="solid"/>
          </a:ln>
        </p:spPr>
        <p:txBody>
          <a:bodyPr/>
          <a:p/>
        </p:txBody>
      </p:sp>
      <p:sp>
        <p:nvSpPr>
          <p:cNvPr id="11" name="Text 9"/>
          <p:cNvSpPr txBox="1"/>
          <p:nvPr/>
        </p:nvSpPr>
        <p:spPr>
          <a:xfrm>
            <a:off x="4800600" y="2450592"/>
            <a:ext cx="3749040" cy="73152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Límites de datos</a:t>
            </a:r>
            <a:endParaRPr lang="en-US" sz="1300" dirty="0"/>
          </a:p>
          <a:p>
            <a:pPr indent="0" marL="0">
              <a:buNone/>
            </a:pPr>
            <a:r>
              <a:rPr lang="en-US" sz="1150" dirty="0">
                <a:solidFill>
                  <a:srgbClr val="1F2A24"/>
                </a:solidFill>
                <a:latin typeface="Calibri" pitchFamily="34" charset="0"/>
                <a:ea typeface="Calibri" pitchFamily="34" charset="-122"/>
                <a:cs typeface="Calibri" pitchFamily="34" charset="-120"/>
              </a:rPr>
              <a:t>JSON 16 KB, descripción 2000 caracteres, hasta 3 fotos</a:t>
            </a:r>
            <a:endParaRPr lang="en-US" sz="1300" dirty="0"/>
          </a:p>
        </p:txBody>
      </p:sp>
      <p:sp>
        <p:nvSpPr>
          <p:cNvPr id="12" name="Shape 10"/>
          <p:cNvSpPr/>
          <p:nvPr/>
        </p:nvSpPr>
        <p:spPr>
          <a:xfrm>
            <a:off x="457200" y="3429000"/>
            <a:ext cx="4023360" cy="868680"/>
          </a:xfrm>
          <a:prstGeom prst="roundRect">
            <a:avLst>
              <a:gd name="adj" fmla="val 8421"/>
            </a:avLst>
          </a:prstGeom>
          <a:solidFill>
            <a:srgbClr val="E9F2EC"/>
          </a:solidFill>
          <a:ln w="12700">
            <a:solidFill>
              <a:srgbClr val="E9F2EC"/>
            </a:solidFill>
            <a:prstDash val="solid"/>
          </a:ln>
        </p:spPr>
        <p:txBody>
          <a:bodyPr/>
          <a:p/>
        </p:txBody>
      </p:sp>
      <p:sp>
        <p:nvSpPr>
          <p:cNvPr id="13" name="Text 11"/>
          <p:cNvSpPr txBox="1"/>
          <p:nvPr/>
        </p:nvSpPr>
        <p:spPr>
          <a:xfrm>
            <a:off x="594360" y="3502152"/>
            <a:ext cx="3749040" cy="73152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PostgreSQL y PostGIS</a:t>
            </a:r>
            <a:endParaRPr lang="en-US" sz="1300" dirty="0"/>
          </a:p>
          <a:p>
            <a:pPr indent="0" marL="0">
              <a:buNone/>
            </a:pPr>
            <a:r>
              <a:rPr lang="en-US" sz="1150" dirty="0">
                <a:solidFill>
                  <a:srgbClr val="1F2A24"/>
                </a:solidFill>
                <a:latin typeface="Calibri" pitchFamily="34" charset="0"/>
                <a:ea typeface="Calibri" pitchFamily="34" charset="-122"/>
                <a:cs typeface="Calibri" pitchFamily="34" charset="-120"/>
              </a:rPr>
              <a:t>Distancia geográfica aproximada, sin geocodificación contratada</a:t>
            </a:r>
            <a:endParaRPr lang="en-US" sz="1300" dirty="0"/>
          </a:p>
        </p:txBody>
      </p:sp>
      <p:sp>
        <p:nvSpPr>
          <p:cNvPr id="14" name="Shape 12"/>
          <p:cNvSpPr/>
          <p:nvPr/>
        </p:nvSpPr>
        <p:spPr>
          <a:xfrm>
            <a:off x="4663440" y="3429000"/>
            <a:ext cx="4023360" cy="868680"/>
          </a:xfrm>
          <a:prstGeom prst="roundRect">
            <a:avLst>
              <a:gd name="adj" fmla="val 8421"/>
            </a:avLst>
          </a:prstGeom>
          <a:solidFill>
            <a:srgbClr val="E9F2EC"/>
          </a:solidFill>
          <a:ln w="12700">
            <a:solidFill>
              <a:srgbClr val="E9F2EC"/>
            </a:solidFill>
            <a:prstDash val="solid"/>
          </a:ln>
        </p:spPr>
        <p:txBody>
          <a:bodyPr/>
          <a:p/>
        </p:txBody>
      </p:sp>
      <p:sp>
        <p:nvSpPr>
          <p:cNvPr id="15" name="Text 13"/>
          <p:cNvSpPr txBox="1"/>
          <p:nvPr/>
        </p:nvSpPr>
        <p:spPr>
          <a:xfrm>
            <a:off x="4800600" y="3502152"/>
            <a:ext cx="3749040" cy="731520"/>
          </a:xfrm>
          <a:prstGeom prst="rect">
            <a:avLst/>
          </a:prstGeom>
          <a:noFill/>
          <a:ln/>
        </p:spPr>
        <p:txBody>
          <a:bodyPr wrap="square" lIns="0" tIns="0" rIns="0" bIns="0" rtlCol="0" anchor="ctr"/>
          <a:lstStyle/>
          <a:p>
            <a:pPr indent="0" marL="0">
              <a:buNone/>
            </a:pPr>
            <a:r>
              <a:rPr lang="en-US" sz="1300" b="1" dirty="0">
                <a:solidFill>
                  <a:srgbClr val="1E4D3A"/>
                </a:solidFill>
                <a:latin typeface="Calibri" pitchFamily="34" charset="0"/>
                <a:ea typeface="Calibri" pitchFamily="34" charset="-122"/>
                <a:cs typeface="Calibri" pitchFamily="34" charset="-120"/>
              </a:rPr>
              <a:t>Plan S1–S10 y entregas E1–E4</a:t>
            </a:r>
            <a:endParaRPr lang="en-US" sz="1300" dirty="0"/>
          </a:p>
          <a:p>
            <a:pPr indent="0" marL="0">
              <a:buNone/>
            </a:pPr>
            <a:r>
              <a:rPr lang="en-US" sz="1150" dirty="0">
                <a:solidFill>
                  <a:srgbClr val="1F2A24"/>
                </a:solidFill>
                <a:latin typeface="Calibri" pitchFamily="34" charset="0"/>
                <a:ea typeface="Calibri" pitchFamily="34" charset="-122"/>
                <a:cs typeface="Calibri" pitchFamily="34" charset="-120"/>
              </a:rPr>
              <a:t>Iteraciones semanales; RF comprometidos sin recorte</a:t>
            </a:r>
            <a:endParaRPr lang="en-US" sz="1300" dirty="0"/>
          </a:p>
        </p:txBody>
      </p:sp>
      <p:sp>
        <p:nvSpPr>
          <p:cNvPr id="16" name="Text 14"/>
          <p:cNvSpPr txBox="1"/>
          <p:nvPr/>
        </p:nvSpPr>
        <p:spPr>
          <a:xfrm>
            <a:off x="6858000" y="4800600"/>
            <a:ext cx="1828800" cy="228600"/>
          </a:xfrm>
          <a:prstGeom prst="rect">
            <a:avLst/>
          </a:prstGeom>
          <a:noFill/>
          <a:ln/>
        </p:spPr>
        <p:txBody>
          <a:bodyPr wrap="square" lIns="0" tIns="0" rIns="0" bIns="0" rtlCol="0" anchor="ctr"/>
          <a:lstStyle/>
          <a:p>
            <a:pPr algn="r" indent="0" marL="0">
              <a:buNone/>
            </a:pPr>
            <a:r>
              <a:rPr lang="en-US" sz="900" dirty="0">
                <a:solidFill>
                  <a:srgbClr val="5B6B62"/>
                </a:solidFill>
                <a:latin typeface="Calibri" pitchFamily="34" charset="0"/>
                <a:ea typeface="Calibri" pitchFamily="34" charset="-122"/>
                <a:cs typeface="Calibri" pitchFamily="34" charset="-120"/>
              </a:rPr>
              <a:t>Rescate · E2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KidsNextDoor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Rescate — Entrega 2</dc:title>
  <dc:subject>PptxGenJS Presentation</dc:subject>
  <dc:creator>PptxGenJS</dc:creator>
  <cp:lastModifiedBy>PptxGenJS</cp:lastModifiedBy>
  <cp:revision>1</cp:revision>
  <dcterms:created xsi:type="dcterms:W3CDTF">2026-10-01T15:50:25Z</dcterms:created>
  <dcterms:modified xsi:type="dcterms:W3CDTF">2026-10-01T15:50:25Z</dcterms:modified>
</cp:coreProperties>
</file>